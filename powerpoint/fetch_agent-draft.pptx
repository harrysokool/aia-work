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9" r:id="rId4"/>
    <p:sldId id="261" r:id="rId5"/>
    <p:sldId id="265" r:id="rId6"/>
    <p:sldId id="262" r:id="rId7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8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TitleSlide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3DE312-0E56-1747-B671-3F457AA8D7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E52CBAF-C878-FD45-8AF4-3C799CB4F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6370" b="31414"/>
          <a:stretch/>
        </p:blipFill>
        <p:spPr>
          <a:xfrm>
            <a:off x="6580800" y="0"/>
            <a:ext cx="5611200" cy="685800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5FAC4E2A-F096-5540-918E-6F520E475C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0DD8F76D-7AD6-444B-9E55-80A650B42C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5E6EB-133C-4C47-A11D-54E804FE9C2F}"/>
              </a:ext>
            </a:extLst>
          </p:cNvPr>
          <p:cNvSpPr txBox="1"/>
          <p:nvPr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9903880-9FDE-8D40-A562-3D8B9CB09A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36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5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heme" Target="../theme/theme1.xml"/><Relationship Id="rId7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1447085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53" r:id="rId2"/>
  </p:sldLayoutIdLst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>
          <p15:clr>
            <a:srgbClr val="F26B43"/>
          </p15:clr>
        </p15:guide>
        <p15:guide id="2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1">
            <a:extLst>
              <a:ext uri="{FF2B5EF4-FFF2-40B4-BE49-F238E27FC236}">
                <a16:creationId xmlns:a16="http://schemas.microsoft.com/office/drawing/2014/main" id="{FAF7EE8C-5362-A9EA-0161-81D3622CD7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524" y="5684548"/>
            <a:ext cx="5080000" cy="3587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92BDD7E-2BB7-AB47-3B64-14FCB8E02D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4524" y="1976556"/>
            <a:ext cx="5709512" cy="3166144"/>
          </a:xfrm>
        </p:spPr>
        <p:txBody>
          <a:bodyPr/>
          <a:lstStyle/>
          <a:p>
            <a:r>
              <a:rPr lang="en-US" sz="4000" dirty="0"/>
              <a:t>Investigation Summary: </a:t>
            </a:r>
          </a:p>
          <a:p>
            <a:r>
              <a:rPr lang="en-US" sz="3000" dirty="0"/>
              <a:t>HKIA &amp; AMCM </a:t>
            </a:r>
          </a:p>
          <a:p>
            <a:r>
              <a:rPr lang="en-US" sz="3000" dirty="0"/>
              <a:t>Agent Data Access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3608865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C8A7183-FCCC-0E59-E6F0-3DB26CD478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457099"/>
            <a:ext cx="9624921" cy="3522225"/>
          </a:xfrm>
        </p:spPr>
        <p:txBody>
          <a:bodyPr/>
          <a:lstStyle/>
          <a:p>
            <a:r>
              <a:rPr lang="en-US" sz="2000" dirty="0"/>
              <a:t>Agent Data comes from: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HKIA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AMCM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Internal downloads</a:t>
            </a:r>
          </a:p>
          <a:p>
            <a:r>
              <a:rPr lang="en-US" sz="2000" dirty="0"/>
              <a:t>Internal downloads cover only active AIA agents</a:t>
            </a:r>
          </a:p>
          <a:p>
            <a:r>
              <a:rPr lang="en-US" sz="2000" dirty="0"/>
              <a:t>Manual public website searches</a:t>
            </a:r>
          </a:p>
          <a:p>
            <a:r>
              <a:rPr lang="en-US" sz="2000" dirty="0"/>
              <a:t>A hybrid process is required due to incomplete coverage from any single source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7BDF1-49D7-F5F7-3260-651BF34D1E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Current State: Agent Data &amp; Verification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483746-391C-00BD-3CFB-08D7F58C0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40" y="5091137"/>
            <a:ext cx="2467319" cy="952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0F8AD-21D5-7731-CC11-8EF4C9AB7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1432" y="5191163"/>
            <a:ext cx="3419952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0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030945-E957-8536-F734-88D52978DB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489757"/>
            <a:ext cx="4970711" cy="2518907"/>
          </a:xfrm>
        </p:spPr>
        <p:txBody>
          <a:bodyPr/>
          <a:lstStyle/>
          <a:p>
            <a:r>
              <a:rPr lang="en-US" sz="2000" dirty="0"/>
              <a:t>HKIA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Public search result are capped at 1,000 agents per query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Search logic is character-based inclusion rather than prefix-based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Time consuming</a:t>
            </a:r>
            <a:endParaRPr lang="en-GB" sz="17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B7243-2A3A-CB26-01D7-B65EA12059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0710" y="1489756"/>
            <a:ext cx="4831385" cy="2518907"/>
          </a:xfrm>
        </p:spPr>
        <p:txBody>
          <a:bodyPr/>
          <a:lstStyle/>
          <a:p>
            <a:r>
              <a:rPr lang="en-US" sz="2000" dirty="0"/>
              <a:t>AMCM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Internal tools are not always up to 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Information gaps still require manual verification through the public website</a:t>
            </a:r>
          </a:p>
          <a:p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598257-0921-3D13-8E57-DCFE3A3557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Core Problems &amp; Limitations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E3E68C-2041-AC71-8C87-A6E4A8394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18" y="4289079"/>
            <a:ext cx="5023637" cy="13386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6FB38-DEB2-CF7F-F9F8-F16E277FF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808" y="3556425"/>
            <a:ext cx="3465503" cy="2651635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34877AAA-9C43-61C7-0D82-4B71E774712D}"/>
              </a:ext>
            </a:extLst>
          </p:cNvPr>
          <p:cNvSpPr/>
          <p:nvPr/>
        </p:nvSpPr>
        <p:spPr>
          <a:xfrm>
            <a:off x="5494279" y="4882242"/>
            <a:ext cx="668904" cy="27373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1144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CDF41-0484-2F8B-2D32-EFB6D56BE5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505799"/>
            <a:ext cx="9322843" cy="1754011"/>
          </a:xfrm>
        </p:spPr>
        <p:txBody>
          <a:bodyPr/>
          <a:lstStyle/>
          <a:p>
            <a:r>
              <a:rPr lang="en-US" sz="2000" dirty="0"/>
              <a:t>Significant manual effort is required across multiple teams</a:t>
            </a:r>
          </a:p>
          <a:p>
            <a:r>
              <a:rPr lang="en-US" sz="2000" dirty="0"/>
              <a:t>Manpower costs increase for low-value, repetitive work</a:t>
            </a:r>
          </a:p>
          <a:p>
            <a:r>
              <a:rPr lang="en-US" sz="2000" dirty="0"/>
              <a:t>Verification timeline are extended, delaying downstream processes</a:t>
            </a:r>
            <a:endParaRPr lang="en-GB" sz="2000" dirty="0"/>
          </a:p>
          <a:p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181A0-7BE7-ACAD-4C81-41DA14D3C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Operational Impact</a:t>
            </a:r>
            <a:endParaRPr lang="en-GB" dirty="0"/>
          </a:p>
        </p:txBody>
      </p:sp>
      <p:pic>
        <p:nvPicPr>
          <p:cNvPr id="1026" name="Picture 2" descr="Business man hard working concept .Cartoon Business man working on PC ...">
            <a:extLst>
              <a:ext uri="{FF2B5EF4-FFF2-40B4-BE49-F238E27FC236}">
                <a16:creationId xmlns:a16="http://schemas.microsoft.com/office/drawing/2014/main" id="{EA5D6616-49BC-8B4B-E07A-CB94627A3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23" y="3598413"/>
            <a:ext cx="1889742" cy="1607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ney Wings Flying Isolated 5488534 Vector Art at Vecteezy">
            <a:extLst>
              <a:ext uri="{FF2B5EF4-FFF2-40B4-BE49-F238E27FC236}">
                <a16:creationId xmlns:a16="http://schemas.microsoft.com/office/drawing/2014/main" id="{9E410C2E-9915-5C52-2D4B-554835628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794" y="2933659"/>
            <a:ext cx="1409741" cy="1409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C30424-0CD5-ACB5-CF59-C5DA646C6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047" y="4402084"/>
            <a:ext cx="1480262" cy="1533352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09E5D733-0497-1C59-9C39-60CF8B1FA29F}"/>
              </a:ext>
            </a:extLst>
          </p:cNvPr>
          <p:cNvCxnSpPr>
            <a:cxnSpLocks/>
          </p:cNvCxnSpPr>
          <p:nvPr/>
        </p:nvCxnSpPr>
        <p:spPr>
          <a:xfrm flipV="1">
            <a:off x="4171950" y="3755571"/>
            <a:ext cx="1249136" cy="587829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513590A-A0B3-37BD-901E-57C06B636E38}"/>
              </a:ext>
            </a:extLst>
          </p:cNvPr>
          <p:cNvCxnSpPr>
            <a:cxnSpLocks/>
          </p:cNvCxnSpPr>
          <p:nvPr/>
        </p:nvCxnSpPr>
        <p:spPr>
          <a:xfrm>
            <a:off x="4171950" y="4343400"/>
            <a:ext cx="1249136" cy="563336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915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E977042-2979-6145-A87B-765DC819EB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232786" cy="2916793"/>
          </a:xfrm>
        </p:spPr>
        <p:txBody>
          <a:bodyPr/>
          <a:lstStyle/>
          <a:p>
            <a:r>
              <a:rPr lang="en-US" sz="2000" dirty="0"/>
              <a:t>Reduce manual search effort through improved data access</a:t>
            </a:r>
          </a:p>
          <a:p>
            <a:r>
              <a:rPr lang="en-US" sz="2000" dirty="0"/>
              <a:t>Improve consistency, scalability, and efficiency</a:t>
            </a:r>
          </a:p>
          <a:p>
            <a:r>
              <a:rPr lang="en-US" sz="2000" dirty="0"/>
              <a:t>Enable a more suitable verification process</a:t>
            </a:r>
          </a:p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DEC1C-3502-D6F0-77E5-1DFF327BF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Opportunity to Improve</a:t>
            </a:r>
            <a:endParaRPr lang="en-GB" dirty="0"/>
          </a:p>
        </p:txBody>
      </p:sp>
      <p:pic>
        <p:nvPicPr>
          <p:cNvPr id="2064" name="Picture 16" descr="What is the Difference Between Standard, High, and Ultra High ...">
            <a:extLst>
              <a:ext uri="{FF2B5EF4-FFF2-40B4-BE49-F238E27FC236}">
                <a16:creationId xmlns:a16="http://schemas.microsoft.com/office/drawing/2014/main" id="{EFA4FA59-D333-19BE-02F6-45CFFC979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016" y="3764281"/>
            <a:ext cx="2952749" cy="203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ime Management Illustration (AI)">
            <a:extLst>
              <a:ext uri="{FF2B5EF4-FFF2-40B4-BE49-F238E27FC236}">
                <a16:creationId xmlns:a16="http://schemas.microsoft.com/office/drawing/2014/main" id="{9133ACC2-79C4-E2C8-8E12-5FDAF7280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990" y="3497286"/>
            <a:ext cx="3851519" cy="2566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007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0E955A-1022-A907-E30A-28099FD264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9584100" cy="4249736"/>
          </a:xfrm>
        </p:spPr>
        <p:txBody>
          <a:bodyPr/>
          <a:lstStyle/>
          <a:p>
            <a:r>
              <a:rPr lang="en-US" sz="2000" dirty="0"/>
              <a:t>Proposed Direction: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Improve access to complete and authoritative agent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Reduce reliance on manual public website searches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Explore scalable and compliant automation approaches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700" dirty="0"/>
          </a:p>
          <a:p>
            <a:r>
              <a:rPr lang="en-US" sz="2000" dirty="0"/>
              <a:t>Next Step: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Engage stakeholders to confirm requirements and constraints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Assess feasible data access or integration options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Evaluate compliance, governance, and data usage implications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91DFC-A564-484B-4811-855AD5E980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Direction &amp; Next Step</a:t>
            </a:r>
            <a:endParaRPr lang="en-GB" dirty="0"/>
          </a:p>
          <a:p>
            <a:endParaRPr lang="en-GB" dirty="0"/>
          </a:p>
        </p:txBody>
      </p:sp>
      <p:pic>
        <p:nvPicPr>
          <p:cNvPr id="3082" name="Picture 10" descr="Group Discussion Concepts 4744660 Vector Art at Vecteezy">
            <a:extLst>
              <a:ext uri="{FF2B5EF4-FFF2-40B4-BE49-F238E27FC236}">
                <a16:creationId xmlns:a16="http://schemas.microsoft.com/office/drawing/2014/main" id="{098975F9-11E0-FD31-4B05-6E0F65613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0704" y="1000789"/>
            <a:ext cx="2597507" cy="2597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Facilitate VR Creation Suite | Facilitate VR Creation Suite">
            <a:extLst>
              <a:ext uri="{FF2B5EF4-FFF2-40B4-BE49-F238E27FC236}">
                <a16:creationId xmlns:a16="http://schemas.microsoft.com/office/drawing/2014/main" id="{724E1D66-97B0-D7E7-C0DE-5C99A0C76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3608" y="3801836"/>
            <a:ext cx="2171700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734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3988CD4-DC7E-4D31-B600-CDEE39AAA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235C8-074B-DBB8-BB8D-F0976247E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9329018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96</TotalTime>
  <Words>204</Words>
  <Application>Microsoft Office PowerPoint</Application>
  <PresentationFormat>Widescreen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10</cp:revision>
  <dcterms:created xsi:type="dcterms:W3CDTF">2026-01-22T01:50:14Z</dcterms:created>
  <dcterms:modified xsi:type="dcterms:W3CDTF">2026-02-02T03:31:17Z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2026-01-22T01:57:17Z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e9ed798e-5aa4-463a-956f-221d863930cc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