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68" r:id="rId5"/>
    <p:sldId id="259" r:id="rId6"/>
    <p:sldId id="260" r:id="rId7"/>
    <p:sldId id="269" r:id="rId8"/>
    <p:sldId id="263" r:id="rId9"/>
    <p:sldId id="26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5915C"/>
    <a:srgbClr val="68655A"/>
    <a:srgbClr val="FF7A85"/>
    <a:srgbClr val="4C4794"/>
    <a:srgbClr val="333D47"/>
    <a:srgbClr val="F1C400"/>
    <a:srgbClr val="D31145"/>
    <a:srgbClr val="42005B"/>
    <a:srgbClr val="42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8" autoAdjust="0"/>
    <p:restoredTop sz="94687"/>
  </p:normalViewPr>
  <p:slideViewPr>
    <p:cSldViewPr snapToGrid="0" showGuides="1">
      <p:cViewPr>
        <p:scale>
          <a:sx n="100" d="100"/>
          <a:sy n="100" d="100"/>
        </p:scale>
        <p:origin x="1446" y="630"/>
      </p:cViewPr>
      <p:guideLst>
        <p:guide orient="horz" pos="2160"/>
        <p:guide pos="3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56" d="100"/>
          <a:sy n="56" d="100"/>
        </p:scale>
        <p:origin x="2588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F72F1B2-BC9A-4183-9C5C-E7B6C0A496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3C0F704-0F71-4287-84C9-ACE3A20F8FC4}">
      <dgm:prSet custT="1"/>
      <dgm:spPr/>
      <dgm:t>
        <a:bodyPr/>
        <a:lstStyle/>
        <a:p>
          <a:r>
            <a:rPr lang="en-US" sz="2200" dirty="0"/>
            <a:t>1. Retrieve Official Medical Registry Periodically</a:t>
          </a:r>
          <a:endParaRPr lang="en-GB" sz="2200" dirty="0"/>
        </a:p>
      </dgm:t>
    </dgm:pt>
    <dgm:pt modelId="{B1B35BA0-1A38-4FC2-A9B9-30EDC3197290}" type="parTrans" cxnId="{DE79A0DB-F381-4A02-A686-761F740E323B}">
      <dgm:prSet/>
      <dgm:spPr/>
      <dgm:t>
        <a:bodyPr/>
        <a:lstStyle/>
        <a:p>
          <a:endParaRPr lang="en-GB"/>
        </a:p>
      </dgm:t>
    </dgm:pt>
    <dgm:pt modelId="{6A32B928-D67A-454B-9489-6B66E4A2AE0B}" type="sibTrans" cxnId="{DE79A0DB-F381-4A02-A686-761F740E323B}">
      <dgm:prSet/>
      <dgm:spPr/>
      <dgm:t>
        <a:bodyPr/>
        <a:lstStyle/>
        <a:p>
          <a:endParaRPr lang="en-GB"/>
        </a:p>
      </dgm:t>
    </dgm:pt>
    <dgm:pt modelId="{DEA76871-F657-4082-9A15-E4F59F6DC88E}">
      <dgm:prSet custT="1"/>
      <dgm:spPr/>
      <dgm:t>
        <a:bodyPr/>
        <a:lstStyle/>
        <a:p>
          <a:r>
            <a:rPr lang="en-GB" sz="1800" dirty="0"/>
            <a:t>Download the latest registered provider list from the official medical authority (daily/weekly)</a:t>
          </a:r>
        </a:p>
      </dgm:t>
    </dgm:pt>
    <dgm:pt modelId="{BB435129-B0F2-42F0-9020-20D5A927F00C}" type="parTrans" cxnId="{82B8E5A6-746F-480E-AF82-1BA35726329C}">
      <dgm:prSet/>
      <dgm:spPr/>
      <dgm:t>
        <a:bodyPr/>
        <a:lstStyle/>
        <a:p>
          <a:endParaRPr lang="en-GB"/>
        </a:p>
      </dgm:t>
    </dgm:pt>
    <dgm:pt modelId="{A6DACD0A-0C18-40A9-AACA-844212756DBF}" type="sibTrans" cxnId="{82B8E5A6-746F-480E-AF82-1BA35726329C}">
      <dgm:prSet/>
      <dgm:spPr/>
      <dgm:t>
        <a:bodyPr/>
        <a:lstStyle/>
        <a:p>
          <a:endParaRPr lang="en-GB"/>
        </a:p>
      </dgm:t>
    </dgm:pt>
    <dgm:pt modelId="{5391143F-3CAD-4968-9590-BDA76B5A6C6A}">
      <dgm:prSet custT="1"/>
      <dgm:spPr/>
      <dgm:t>
        <a:bodyPr/>
        <a:lstStyle/>
        <a:p>
          <a:r>
            <a:rPr lang="en-GB" sz="2200" dirty="0"/>
            <a:t>2. Reconcile Entire Internal Provider List</a:t>
          </a:r>
        </a:p>
      </dgm:t>
    </dgm:pt>
    <dgm:pt modelId="{1A181EA8-05FD-49BB-AD68-A1E630BED8F4}" type="parTrans" cxnId="{748F3867-D0BC-4F84-AE87-9B7E564F6E23}">
      <dgm:prSet/>
      <dgm:spPr/>
      <dgm:t>
        <a:bodyPr/>
        <a:lstStyle/>
        <a:p>
          <a:endParaRPr lang="en-GB"/>
        </a:p>
      </dgm:t>
    </dgm:pt>
    <dgm:pt modelId="{86EC2B25-ADB3-4377-9BE6-2431A8647464}" type="sibTrans" cxnId="{748F3867-D0BC-4F84-AE87-9B7E564F6E23}">
      <dgm:prSet/>
      <dgm:spPr/>
      <dgm:t>
        <a:bodyPr/>
        <a:lstStyle/>
        <a:p>
          <a:endParaRPr lang="en-GB"/>
        </a:p>
      </dgm:t>
    </dgm:pt>
    <dgm:pt modelId="{35E5C449-1353-47CA-8AEA-F52F2B887F67}">
      <dgm:prSet custT="1"/>
      <dgm:spPr/>
      <dgm:t>
        <a:bodyPr/>
        <a:lstStyle/>
        <a:p>
          <a:r>
            <a:rPr lang="en-GB" sz="1800" dirty="0"/>
            <a:t>Perform automated comparison between the internal provider list and official registry</a:t>
          </a:r>
        </a:p>
      </dgm:t>
    </dgm:pt>
    <dgm:pt modelId="{40C1B47E-5E28-4F43-AFE3-1FC45D9B9FE2}" type="parTrans" cxnId="{EFFEE83E-B8F3-420E-AA30-B29A88C435F0}">
      <dgm:prSet/>
      <dgm:spPr/>
      <dgm:t>
        <a:bodyPr/>
        <a:lstStyle/>
        <a:p>
          <a:endParaRPr lang="en-GB"/>
        </a:p>
      </dgm:t>
    </dgm:pt>
    <dgm:pt modelId="{0DD0F408-487D-40E0-A294-1049859B96EB}" type="sibTrans" cxnId="{EFFEE83E-B8F3-420E-AA30-B29A88C435F0}">
      <dgm:prSet/>
      <dgm:spPr/>
      <dgm:t>
        <a:bodyPr/>
        <a:lstStyle/>
        <a:p>
          <a:endParaRPr lang="en-GB"/>
        </a:p>
      </dgm:t>
    </dgm:pt>
    <dgm:pt modelId="{75939562-C762-4A16-9E48-3A2CB9D37433}">
      <dgm:prSet custT="1"/>
      <dgm:spPr/>
      <dgm:t>
        <a:bodyPr/>
        <a:lstStyle/>
        <a:p>
          <a:r>
            <a:rPr lang="en-GB" sz="2200" dirty="0"/>
            <a:t>3. Identify and Flag Discrepancies</a:t>
          </a:r>
        </a:p>
      </dgm:t>
    </dgm:pt>
    <dgm:pt modelId="{D5FBBE52-D9C3-434F-A318-2E2292587F46}" type="parTrans" cxnId="{AE043733-E04F-4F9C-8C32-70015DAE9A14}">
      <dgm:prSet/>
      <dgm:spPr/>
      <dgm:t>
        <a:bodyPr/>
        <a:lstStyle/>
        <a:p>
          <a:endParaRPr lang="en-GB"/>
        </a:p>
      </dgm:t>
    </dgm:pt>
    <dgm:pt modelId="{D8F4099F-5548-4E63-B4ED-C0034940E65F}" type="sibTrans" cxnId="{AE043733-E04F-4F9C-8C32-70015DAE9A14}">
      <dgm:prSet/>
      <dgm:spPr/>
      <dgm:t>
        <a:bodyPr/>
        <a:lstStyle/>
        <a:p>
          <a:endParaRPr lang="en-GB"/>
        </a:p>
      </dgm:t>
    </dgm:pt>
    <dgm:pt modelId="{94C324DB-28BB-4568-962F-5843D0530B81}">
      <dgm:prSet custT="1"/>
      <dgm:spPr/>
      <dgm:t>
        <a:bodyPr/>
        <a:lstStyle/>
        <a:p>
          <a:r>
            <a:rPr lang="en-GB" sz="1800" dirty="0"/>
            <a:t>Flag providers where:</a:t>
          </a:r>
        </a:p>
      </dgm:t>
    </dgm:pt>
    <dgm:pt modelId="{726E76C6-DE70-4552-B851-B8600420101B}" type="parTrans" cxnId="{0B0394BF-A179-4665-992A-5E5CD9D4A3E9}">
      <dgm:prSet/>
      <dgm:spPr/>
      <dgm:t>
        <a:bodyPr/>
        <a:lstStyle/>
        <a:p>
          <a:endParaRPr lang="en-GB"/>
        </a:p>
      </dgm:t>
    </dgm:pt>
    <dgm:pt modelId="{445D7A4A-F6FA-45A8-AB75-ADF1E0983526}" type="sibTrans" cxnId="{0B0394BF-A179-4665-992A-5E5CD9D4A3E9}">
      <dgm:prSet/>
      <dgm:spPr/>
      <dgm:t>
        <a:bodyPr/>
        <a:lstStyle/>
        <a:p>
          <a:endParaRPr lang="en-GB"/>
        </a:p>
      </dgm:t>
    </dgm:pt>
    <dgm:pt modelId="{E1FFD5BC-8DD4-4B60-B977-F30F37D352CE}">
      <dgm:prSet custT="1"/>
      <dgm:spPr/>
      <dgm:t>
        <a:bodyPr/>
        <a:lstStyle/>
        <a:p>
          <a:r>
            <a:rPr lang="en-GB" sz="1800" dirty="0"/>
            <a:t>Provider not found in official registry </a:t>
          </a:r>
        </a:p>
      </dgm:t>
    </dgm:pt>
    <dgm:pt modelId="{D5155580-BAA9-4FF2-B8A5-23F6C8638921}" type="parTrans" cxnId="{8C5B8146-6694-4640-A9D9-6FA4974C2531}">
      <dgm:prSet/>
      <dgm:spPr/>
      <dgm:t>
        <a:bodyPr/>
        <a:lstStyle/>
        <a:p>
          <a:endParaRPr lang="en-GB"/>
        </a:p>
      </dgm:t>
    </dgm:pt>
    <dgm:pt modelId="{926FDBBB-DB96-488A-AA7E-68FCED98C9C1}" type="sibTrans" cxnId="{8C5B8146-6694-4640-A9D9-6FA4974C2531}">
      <dgm:prSet/>
      <dgm:spPr/>
      <dgm:t>
        <a:bodyPr/>
        <a:lstStyle/>
        <a:p>
          <a:endParaRPr lang="en-GB"/>
        </a:p>
      </dgm:t>
    </dgm:pt>
    <dgm:pt modelId="{B433A020-31BE-41DE-AD5C-CC63054D7AB4}">
      <dgm:prSet custT="1"/>
      <dgm:spPr/>
      <dgm:t>
        <a:bodyPr/>
        <a:lstStyle/>
        <a:p>
          <a:r>
            <a:rPr lang="en-GB" sz="1800" dirty="0"/>
            <a:t>Registration status changed (e.g. suspended, expired, deregistered)</a:t>
          </a:r>
        </a:p>
      </dgm:t>
    </dgm:pt>
    <dgm:pt modelId="{176F3136-3322-466A-B99E-98C897FA19C8}" type="parTrans" cxnId="{80DE181E-95DC-4E31-B9ED-75A3E91925E1}">
      <dgm:prSet/>
      <dgm:spPr/>
      <dgm:t>
        <a:bodyPr/>
        <a:lstStyle/>
        <a:p>
          <a:endParaRPr lang="en-GB"/>
        </a:p>
      </dgm:t>
    </dgm:pt>
    <dgm:pt modelId="{60561AF6-3AC8-4BDA-9C05-6294DE119C86}" type="sibTrans" cxnId="{80DE181E-95DC-4E31-B9ED-75A3E91925E1}">
      <dgm:prSet/>
      <dgm:spPr/>
      <dgm:t>
        <a:bodyPr/>
        <a:lstStyle/>
        <a:p>
          <a:endParaRPr lang="en-GB"/>
        </a:p>
      </dgm:t>
    </dgm:pt>
    <dgm:pt modelId="{4C3B8F69-A3AF-428B-965B-E11F01F1EC22}">
      <dgm:prSet custT="1"/>
      <dgm:spPr/>
      <dgm:t>
        <a:bodyPr/>
        <a:lstStyle/>
        <a:p>
          <a:endParaRPr lang="en-GB" sz="1800" dirty="0"/>
        </a:p>
      </dgm:t>
    </dgm:pt>
    <dgm:pt modelId="{3D5D1BC9-1732-4B5F-87DC-222968FB6A76}" type="parTrans" cxnId="{42AFD2AF-5002-4D46-A596-CAEF7CDEAA8E}">
      <dgm:prSet/>
      <dgm:spPr/>
      <dgm:t>
        <a:bodyPr/>
        <a:lstStyle/>
        <a:p>
          <a:endParaRPr lang="en-GB"/>
        </a:p>
      </dgm:t>
    </dgm:pt>
    <dgm:pt modelId="{96FA5B32-05EB-4F65-AE77-8129D580AE58}" type="sibTrans" cxnId="{42AFD2AF-5002-4D46-A596-CAEF7CDEAA8E}">
      <dgm:prSet/>
      <dgm:spPr/>
      <dgm:t>
        <a:bodyPr/>
        <a:lstStyle/>
        <a:p>
          <a:endParaRPr lang="en-GB"/>
        </a:p>
      </dgm:t>
    </dgm:pt>
    <dgm:pt modelId="{458F09F0-7B76-4600-9F45-6D3AAA126ED7}" type="pres">
      <dgm:prSet presAssocID="{AF72F1B2-BC9A-4183-9C5C-E7B6C0A496FD}" presName="linear" presStyleCnt="0">
        <dgm:presLayoutVars>
          <dgm:animLvl val="lvl"/>
          <dgm:resizeHandles val="exact"/>
        </dgm:presLayoutVars>
      </dgm:prSet>
      <dgm:spPr/>
    </dgm:pt>
    <dgm:pt modelId="{9DF24910-F2B3-4A40-B3FB-2B06AE81A9C7}" type="pres">
      <dgm:prSet presAssocID="{23C0F704-0F71-4287-84C9-ACE3A20F8FC4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8ED37E8-D1C4-4124-BEE1-2C3A05A85DC0}" type="pres">
      <dgm:prSet presAssocID="{23C0F704-0F71-4287-84C9-ACE3A20F8FC4}" presName="childText" presStyleLbl="revTx" presStyleIdx="0" presStyleCnt="3">
        <dgm:presLayoutVars>
          <dgm:bulletEnabled val="1"/>
        </dgm:presLayoutVars>
      </dgm:prSet>
      <dgm:spPr/>
    </dgm:pt>
    <dgm:pt modelId="{EC646298-8F3A-4CED-9852-67DF7E52E49B}" type="pres">
      <dgm:prSet presAssocID="{5391143F-3CAD-4968-9590-BDA76B5A6C6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01518BE-0DF1-4F07-92C6-85835E7F59CA}" type="pres">
      <dgm:prSet presAssocID="{5391143F-3CAD-4968-9590-BDA76B5A6C6A}" presName="childText" presStyleLbl="revTx" presStyleIdx="1" presStyleCnt="3">
        <dgm:presLayoutVars>
          <dgm:bulletEnabled val="1"/>
        </dgm:presLayoutVars>
      </dgm:prSet>
      <dgm:spPr/>
    </dgm:pt>
    <dgm:pt modelId="{1B86791A-5AEE-4E24-B0F1-FBF6616DB5DD}" type="pres">
      <dgm:prSet presAssocID="{75939562-C762-4A16-9E48-3A2CB9D37433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EEDDDCB-A1C6-42A4-AC81-0E4BE0D9E449}" type="pres">
      <dgm:prSet presAssocID="{75939562-C762-4A16-9E48-3A2CB9D37433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7AB71E16-39F0-428B-9341-FA70BB3F8E24}" type="presOf" srcId="{23C0F704-0F71-4287-84C9-ACE3A20F8FC4}" destId="{9DF24910-F2B3-4A40-B3FB-2B06AE81A9C7}" srcOrd="0" destOrd="0" presId="urn:microsoft.com/office/officeart/2005/8/layout/vList2"/>
    <dgm:cxn modelId="{80DE181E-95DC-4E31-B9ED-75A3E91925E1}" srcId="{75939562-C762-4A16-9E48-3A2CB9D37433}" destId="{B433A020-31BE-41DE-AD5C-CC63054D7AB4}" srcOrd="2" destOrd="0" parTransId="{176F3136-3322-466A-B99E-98C897FA19C8}" sibTransId="{60561AF6-3AC8-4BDA-9C05-6294DE119C86}"/>
    <dgm:cxn modelId="{C12EF725-EA68-4901-9FCA-D08C53A1231F}" type="presOf" srcId="{DEA76871-F657-4082-9A15-E4F59F6DC88E}" destId="{28ED37E8-D1C4-4124-BEE1-2C3A05A85DC0}" srcOrd="0" destOrd="0" presId="urn:microsoft.com/office/officeart/2005/8/layout/vList2"/>
    <dgm:cxn modelId="{F1C3902D-EE72-47EF-BDCD-0618D69C531F}" type="presOf" srcId="{75939562-C762-4A16-9E48-3A2CB9D37433}" destId="{1B86791A-5AEE-4E24-B0F1-FBF6616DB5DD}" srcOrd="0" destOrd="0" presId="urn:microsoft.com/office/officeart/2005/8/layout/vList2"/>
    <dgm:cxn modelId="{AE043733-E04F-4F9C-8C32-70015DAE9A14}" srcId="{AF72F1B2-BC9A-4183-9C5C-E7B6C0A496FD}" destId="{75939562-C762-4A16-9E48-3A2CB9D37433}" srcOrd="2" destOrd="0" parTransId="{D5FBBE52-D9C3-434F-A318-2E2292587F46}" sibTransId="{D8F4099F-5548-4E63-B4ED-C0034940E65F}"/>
    <dgm:cxn modelId="{EFFEE83E-B8F3-420E-AA30-B29A88C435F0}" srcId="{5391143F-3CAD-4968-9590-BDA76B5A6C6A}" destId="{35E5C449-1353-47CA-8AEA-F52F2B887F67}" srcOrd="0" destOrd="0" parTransId="{40C1B47E-5E28-4F43-AFE3-1FC45D9B9FE2}" sibTransId="{0DD0F408-487D-40E0-A294-1049859B96EB}"/>
    <dgm:cxn modelId="{3FB0705D-C906-4029-9ADE-150C63860E83}" type="presOf" srcId="{4C3B8F69-A3AF-428B-965B-E11F01F1EC22}" destId="{28ED37E8-D1C4-4124-BEE1-2C3A05A85DC0}" srcOrd="0" destOrd="1" presId="urn:microsoft.com/office/officeart/2005/8/layout/vList2"/>
    <dgm:cxn modelId="{8C5B8146-6694-4640-A9D9-6FA4974C2531}" srcId="{75939562-C762-4A16-9E48-3A2CB9D37433}" destId="{E1FFD5BC-8DD4-4B60-B977-F30F37D352CE}" srcOrd="1" destOrd="0" parTransId="{D5155580-BAA9-4FF2-B8A5-23F6C8638921}" sibTransId="{926FDBBB-DB96-488A-AA7E-68FCED98C9C1}"/>
    <dgm:cxn modelId="{748F3867-D0BC-4F84-AE87-9B7E564F6E23}" srcId="{AF72F1B2-BC9A-4183-9C5C-E7B6C0A496FD}" destId="{5391143F-3CAD-4968-9590-BDA76B5A6C6A}" srcOrd="1" destOrd="0" parTransId="{1A181EA8-05FD-49BB-AD68-A1E630BED8F4}" sibTransId="{86EC2B25-ADB3-4377-9BE6-2431A8647464}"/>
    <dgm:cxn modelId="{9B3B1549-8898-439F-91B9-F5C37B309870}" type="presOf" srcId="{E1FFD5BC-8DD4-4B60-B977-F30F37D352CE}" destId="{CEEDDDCB-A1C6-42A4-AC81-0E4BE0D9E449}" srcOrd="0" destOrd="1" presId="urn:microsoft.com/office/officeart/2005/8/layout/vList2"/>
    <dgm:cxn modelId="{77CD076B-C366-4D12-B4F5-1BCBA17A21AD}" type="presOf" srcId="{5391143F-3CAD-4968-9590-BDA76B5A6C6A}" destId="{EC646298-8F3A-4CED-9852-67DF7E52E49B}" srcOrd="0" destOrd="0" presId="urn:microsoft.com/office/officeart/2005/8/layout/vList2"/>
    <dgm:cxn modelId="{BE6E0980-4CCF-4216-986A-B06A20A101C3}" type="presOf" srcId="{B433A020-31BE-41DE-AD5C-CC63054D7AB4}" destId="{CEEDDDCB-A1C6-42A4-AC81-0E4BE0D9E449}" srcOrd="0" destOrd="2" presId="urn:microsoft.com/office/officeart/2005/8/layout/vList2"/>
    <dgm:cxn modelId="{302E3189-5A47-424E-A8DE-3ADF147317E2}" type="presOf" srcId="{35E5C449-1353-47CA-8AEA-F52F2B887F67}" destId="{601518BE-0DF1-4F07-92C6-85835E7F59CA}" srcOrd="0" destOrd="0" presId="urn:microsoft.com/office/officeart/2005/8/layout/vList2"/>
    <dgm:cxn modelId="{2A558E8A-6995-442D-9F38-7B628691BE7E}" type="presOf" srcId="{94C324DB-28BB-4568-962F-5843D0530B81}" destId="{CEEDDDCB-A1C6-42A4-AC81-0E4BE0D9E449}" srcOrd="0" destOrd="0" presId="urn:microsoft.com/office/officeart/2005/8/layout/vList2"/>
    <dgm:cxn modelId="{82B8E5A6-746F-480E-AF82-1BA35726329C}" srcId="{23C0F704-0F71-4287-84C9-ACE3A20F8FC4}" destId="{DEA76871-F657-4082-9A15-E4F59F6DC88E}" srcOrd="0" destOrd="0" parTransId="{BB435129-B0F2-42F0-9020-20D5A927F00C}" sibTransId="{A6DACD0A-0C18-40A9-AACA-844212756DBF}"/>
    <dgm:cxn modelId="{42AFD2AF-5002-4D46-A596-CAEF7CDEAA8E}" srcId="{23C0F704-0F71-4287-84C9-ACE3A20F8FC4}" destId="{4C3B8F69-A3AF-428B-965B-E11F01F1EC22}" srcOrd="1" destOrd="0" parTransId="{3D5D1BC9-1732-4B5F-87DC-222968FB6A76}" sibTransId="{96FA5B32-05EB-4F65-AE77-8129D580AE58}"/>
    <dgm:cxn modelId="{0B0394BF-A179-4665-992A-5E5CD9D4A3E9}" srcId="{75939562-C762-4A16-9E48-3A2CB9D37433}" destId="{94C324DB-28BB-4568-962F-5843D0530B81}" srcOrd="0" destOrd="0" parTransId="{726E76C6-DE70-4552-B851-B8600420101B}" sibTransId="{445D7A4A-F6FA-45A8-AB75-ADF1E0983526}"/>
    <dgm:cxn modelId="{DE79A0DB-F381-4A02-A686-761F740E323B}" srcId="{AF72F1B2-BC9A-4183-9C5C-E7B6C0A496FD}" destId="{23C0F704-0F71-4287-84C9-ACE3A20F8FC4}" srcOrd="0" destOrd="0" parTransId="{B1B35BA0-1A38-4FC2-A9B9-30EDC3197290}" sibTransId="{6A32B928-D67A-454B-9489-6B66E4A2AE0B}"/>
    <dgm:cxn modelId="{97D4F3DC-3C14-421A-B6EC-4A6759F212F8}" type="presOf" srcId="{AF72F1B2-BC9A-4183-9C5C-E7B6C0A496FD}" destId="{458F09F0-7B76-4600-9F45-6D3AAA126ED7}" srcOrd="0" destOrd="0" presId="urn:microsoft.com/office/officeart/2005/8/layout/vList2"/>
    <dgm:cxn modelId="{E491C051-118F-4C27-AD92-86580480121E}" type="presParOf" srcId="{458F09F0-7B76-4600-9F45-6D3AAA126ED7}" destId="{9DF24910-F2B3-4A40-B3FB-2B06AE81A9C7}" srcOrd="0" destOrd="0" presId="urn:microsoft.com/office/officeart/2005/8/layout/vList2"/>
    <dgm:cxn modelId="{A0003884-1C0E-47E6-A0C0-720188C0DDFF}" type="presParOf" srcId="{458F09F0-7B76-4600-9F45-6D3AAA126ED7}" destId="{28ED37E8-D1C4-4124-BEE1-2C3A05A85DC0}" srcOrd="1" destOrd="0" presId="urn:microsoft.com/office/officeart/2005/8/layout/vList2"/>
    <dgm:cxn modelId="{9280F1EC-F0A5-4BEF-8294-7E32FCAE16D0}" type="presParOf" srcId="{458F09F0-7B76-4600-9F45-6D3AAA126ED7}" destId="{EC646298-8F3A-4CED-9852-67DF7E52E49B}" srcOrd="2" destOrd="0" presId="urn:microsoft.com/office/officeart/2005/8/layout/vList2"/>
    <dgm:cxn modelId="{A4A1CC4C-D6AB-4D12-9C3A-70B529A935C5}" type="presParOf" srcId="{458F09F0-7B76-4600-9F45-6D3AAA126ED7}" destId="{601518BE-0DF1-4F07-92C6-85835E7F59CA}" srcOrd="3" destOrd="0" presId="urn:microsoft.com/office/officeart/2005/8/layout/vList2"/>
    <dgm:cxn modelId="{B546ADBB-9A87-43C5-8523-054D59DE2B7A}" type="presParOf" srcId="{458F09F0-7B76-4600-9F45-6D3AAA126ED7}" destId="{1B86791A-5AEE-4E24-B0F1-FBF6616DB5DD}" srcOrd="4" destOrd="0" presId="urn:microsoft.com/office/officeart/2005/8/layout/vList2"/>
    <dgm:cxn modelId="{1C9D18D4-2440-4A36-902A-7B6B003DBE01}" type="presParOf" srcId="{458F09F0-7B76-4600-9F45-6D3AAA126ED7}" destId="{CEEDDDCB-A1C6-42A4-AC81-0E4BE0D9E449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24910-F2B3-4A40-B3FB-2B06AE81A9C7}">
      <dsp:nvSpPr>
        <dsp:cNvPr id="0" name=""/>
        <dsp:cNvSpPr/>
      </dsp:nvSpPr>
      <dsp:spPr>
        <a:xfrm>
          <a:off x="0" y="13299"/>
          <a:ext cx="924120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1. Retrieve Official Medical Registry Periodically</a:t>
          </a:r>
          <a:endParaRPr lang="en-GB" sz="2200" kern="1200" dirty="0"/>
        </a:p>
      </dsp:txBody>
      <dsp:txXfrm>
        <a:off x="31984" y="45283"/>
        <a:ext cx="9177232" cy="591232"/>
      </dsp:txXfrm>
    </dsp:sp>
    <dsp:sp modelId="{28ED37E8-D1C4-4124-BEE1-2C3A05A85DC0}">
      <dsp:nvSpPr>
        <dsp:cNvPr id="0" name=""/>
        <dsp:cNvSpPr/>
      </dsp:nvSpPr>
      <dsp:spPr>
        <a:xfrm>
          <a:off x="0" y="668499"/>
          <a:ext cx="9241200" cy="815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3408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Download the latest registered provider list from the official medical authority (daily/weekly)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GB" sz="1800" kern="1200" dirty="0"/>
        </a:p>
      </dsp:txBody>
      <dsp:txXfrm>
        <a:off x="0" y="668499"/>
        <a:ext cx="9241200" cy="815062"/>
      </dsp:txXfrm>
    </dsp:sp>
    <dsp:sp modelId="{EC646298-8F3A-4CED-9852-67DF7E52E49B}">
      <dsp:nvSpPr>
        <dsp:cNvPr id="0" name=""/>
        <dsp:cNvSpPr/>
      </dsp:nvSpPr>
      <dsp:spPr>
        <a:xfrm>
          <a:off x="0" y="1483562"/>
          <a:ext cx="924120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2. Reconcile Entire Internal Provider List</a:t>
          </a:r>
        </a:p>
      </dsp:txBody>
      <dsp:txXfrm>
        <a:off x="31984" y="1515546"/>
        <a:ext cx="9177232" cy="591232"/>
      </dsp:txXfrm>
    </dsp:sp>
    <dsp:sp modelId="{601518BE-0DF1-4F07-92C6-85835E7F59CA}">
      <dsp:nvSpPr>
        <dsp:cNvPr id="0" name=""/>
        <dsp:cNvSpPr/>
      </dsp:nvSpPr>
      <dsp:spPr>
        <a:xfrm>
          <a:off x="0" y="2138762"/>
          <a:ext cx="9241200" cy="579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3408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Perform automated comparison between the internal provider list and official registry</a:t>
          </a:r>
        </a:p>
      </dsp:txBody>
      <dsp:txXfrm>
        <a:off x="0" y="2138762"/>
        <a:ext cx="9241200" cy="579600"/>
      </dsp:txXfrm>
    </dsp:sp>
    <dsp:sp modelId="{1B86791A-5AEE-4E24-B0F1-FBF6616DB5DD}">
      <dsp:nvSpPr>
        <dsp:cNvPr id="0" name=""/>
        <dsp:cNvSpPr/>
      </dsp:nvSpPr>
      <dsp:spPr>
        <a:xfrm>
          <a:off x="0" y="2718362"/>
          <a:ext cx="924120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3. Identify and Flag Discrepancies</a:t>
          </a:r>
        </a:p>
      </dsp:txBody>
      <dsp:txXfrm>
        <a:off x="31984" y="2750346"/>
        <a:ext cx="9177232" cy="591232"/>
      </dsp:txXfrm>
    </dsp:sp>
    <dsp:sp modelId="{CEEDDDCB-A1C6-42A4-AC81-0E4BE0D9E449}">
      <dsp:nvSpPr>
        <dsp:cNvPr id="0" name=""/>
        <dsp:cNvSpPr/>
      </dsp:nvSpPr>
      <dsp:spPr>
        <a:xfrm>
          <a:off x="0" y="3373562"/>
          <a:ext cx="9241200" cy="869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3408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Flag providers where: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Provider not found in official registry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Registration status changed (e.g. suspended, expired, deregistered)</a:t>
          </a:r>
        </a:p>
      </dsp:txBody>
      <dsp:txXfrm>
        <a:off x="0" y="3373562"/>
        <a:ext cx="9241200" cy="869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218ECE-A34A-49B3-9686-CAB705FE9FAE}" type="datetimeFigureOut">
              <a:rPr lang="en-GB" smtClean="0"/>
              <a:t>13/02/2026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CF2FCE-B231-44AD-BE06-D54B55D77B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14142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CA36D-3A4E-49AB-8998-33E386CC934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A808D9-4A71-422D-8C20-E440E917B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8085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C8B2D97-7482-B047-9B05-E59F4C8D454C}"/>
              </a:ext>
            </a:extLst>
          </p:cNvPr>
          <p:cNvGrpSpPr/>
          <p:nvPr userDrawn="1"/>
        </p:nvGrpSpPr>
        <p:grpSpPr>
          <a:xfrm>
            <a:off x="0" y="-5486"/>
            <a:ext cx="12192000" cy="6863486"/>
            <a:chOff x="0" y="-5486"/>
            <a:chExt cx="12192000" cy="686348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565177B-4800-6A4D-ACF1-A60D3E364849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F4AB8107-860B-CD4F-9FC2-3EAC6C28038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2546" r="5124"/>
            <a:stretch/>
          </p:blipFill>
          <p:spPr>
            <a:xfrm>
              <a:off x="624742" y="-5486"/>
              <a:ext cx="11567258" cy="6683445"/>
            </a:xfrm>
            <a:prstGeom prst="rect">
              <a:avLst/>
            </a:prstGeom>
          </p:spPr>
        </p:pic>
      </p:grpSp>
      <p:sp>
        <p:nvSpPr>
          <p:cNvPr id="11" name="Subtitle 2">
            <a:extLst>
              <a:ext uri="{FF2B5EF4-FFF2-40B4-BE49-F238E27FC236}">
                <a16:creationId xmlns:a16="http://schemas.microsoft.com/office/drawing/2014/main" id="{7418E04C-6267-3C40-8045-E595A3F20DE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CC8A58C-864F-7041-A6F9-451CDBB94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FA8A1-E8CC-7447-A8CA-4C3E1E53C399}"/>
              </a:ext>
            </a:extLst>
          </p:cNvPr>
          <p:cNvSpPr txBox="1"/>
          <p:nvPr userDrawn="1"/>
        </p:nvSpPr>
        <p:spPr>
          <a:xfrm>
            <a:off x="-1170000" y="2440557"/>
            <a:ext cx="1052488" cy="17851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l"/>
            <a:r>
              <a:rPr lang="en-US" sz="1000" dirty="0">
                <a:solidFill>
                  <a:srgbClr val="333D4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image can be replaced here and master view</a:t>
            </a:r>
          </a:p>
          <a:p>
            <a:pPr algn="l"/>
            <a:endParaRPr lang="en-US" sz="1000" dirty="0">
              <a:solidFill>
                <a:srgbClr val="333D4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GB" sz="1000" dirty="0">
                <a:latin typeface="Helvetica Neue" panose="02000503000000020004" pitchFamily="2" charset="0"/>
              </a:rPr>
              <a:t>Please </a:t>
            </a:r>
            <a:r>
              <a:rPr lang="en-GB" sz="1000" b="1" dirty="0">
                <a:latin typeface="Helvetica Neue" panose="02000503000000020004" pitchFamily="2" charset="0"/>
              </a:rPr>
              <a:t>do not </a:t>
            </a:r>
            <a:r>
              <a:rPr lang="en-GB" sz="1000" dirty="0">
                <a:latin typeface="Helvetica Neue" panose="02000503000000020004" pitchFamily="2" charset="0"/>
              </a:rPr>
              <a:t>use any internal photo competition participants’ images</a:t>
            </a:r>
            <a:endParaRPr lang="en-US" sz="1000" dirty="0">
              <a:solidFill>
                <a:srgbClr val="333D47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C25017-062B-8F43-A169-03040D11D39C}"/>
              </a:ext>
            </a:extLst>
          </p:cNvPr>
          <p:cNvSpPr txBox="1"/>
          <p:nvPr userDrawn="1"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rapezoid 5">
            <a:extLst>
              <a:ext uri="{FF2B5EF4-FFF2-40B4-BE49-F238E27FC236}">
                <a16:creationId xmlns:a16="http://schemas.microsoft.com/office/drawing/2014/main" id="{2D70B633-359E-094E-8547-ABD066006107}"/>
              </a:ext>
            </a:extLst>
          </p:cNvPr>
          <p:cNvSpPr/>
          <p:nvPr userDrawn="1"/>
        </p:nvSpPr>
        <p:spPr>
          <a:xfrm>
            <a:off x="6337300" y="1493839"/>
            <a:ext cx="5868000" cy="5369646"/>
          </a:xfrm>
          <a:custGeom>
            <a:avLst/>
            <a:gdLst>
              <a:gd name="connsiteX0" fmla="*/ 0 w 3508169"/>
              <a:gd name="connsiteY0" fmla="*/ 3543337 h 3543337"/>
              <a:gd name="connsiteX1" fmla="*/ 877042 w 3508169"/>
              <a:gd name="connsiteY1" fmla="*/ 0 h 3543337"/>
              <a:gd name="connsiteX2" fmla="*/ 2631127 w 3508169"/>
              <a:gd name="connsiteY2" fmla="*/ 0 h 3543337"/>
              <a:gd name="connsiteX3" fmla="*/ 3508169 w 3508169"/>
              <a:gd name="connsiteY3" fmla="*/ 3543337 h 3543337"/>
              <a:gd name="connsiteX4" fmla="*/ 0 w 3508169"/>
              <a:gd name="connsiteY4" fmla="*/ 3543337 h 3543337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3508169 w 6086008"/>
              <a:gd name="connsiteY3" fmla="*/ 5470415 h 5470415"/>
              <a:gd name="connsiteX4" fmla="*/ 0 w 6086008"/>
              <a:gd name="connsiteY4" fmla="*/ 5470415 h 5470415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6057143 w 6086008"/>
              <a:gd name="connsiteY3" fmla="*/ 3419009 h 5470415"/>
              <a:gd name="connsiteX4" fmla="*/ 0 w 6086008"/>
              <a:gd name="connsiteY4" fmla="*/ 5470415 h 5470415"/>
              <a:gd name="connsiteX0" fmla="*/ 3048556 w 5208966"/>
              <a:gd name="connsiteY0" fmla="*/ 6607124 h 6607124"/>
              <a:gd name="connsiteX1" fmla="*/ 0 w 5208966"/>
              <a:gd name="connsiteY1" fmla="*/ 1927078 h 6607124"/>
              <a:gd name="connsiteX2" fmla="*/ 5208966 w 5208966"/>
              <a:gd name="connsiteY2" fmla="*/ 0 h 6607124"/>
              <a:gd name="connsiteX3" fmla="*/ 5180101 w 5208966"/>
              <a:gd name="connsiteY3" fmla="*/ 3419009 h 6607124"/>
              <a:gd name="connsiteX4" fmla="*/ 3048556 w 5208966"/>
              <a:gd name="connsiteY4" fmla="*/ 6607124 h 6607124"/>
              <a:gd name="connsiteX0" fmla="*/ 4833726 w 6994136"/>
              <a:gd name="connsiteY0" fmla="*/ 6607124 h 6607124"/>
              <a:gd name="connsiteX1" fmla="*/ 0 w 6994136"/>
              <a:gd name="connsiteY1" fmla="*/ 2193494 h 6607124"/>
              <a:gd name="connsiteX2" fmla="*/ 6994136 w 6994136"/>
              <a:gd name="connsiteY2" fmla="*/ 0 h 6607124"/>
              <a:gd name="connsiteX3" fmla="*/ 6965271 w 6994136"/>
              <a:gd name="connsiteY3" fmla="*/ 3419009 h 6607124"/>
              <a:gd name="connsiteX4" fmla="*/ 4833726 w 6994136"/>
              <a:gd name="connsiteY4" fmla="*/ 6607124 h 6607124"/>
              <a:gd name="connsiteX0" fmla="*/ 4833726 w 6994136"/>
              <a:gd name="connsiteY0" fmla="*/ 6607124 h 6607124"/>
              <a:gd name="connsiteX1" fmla="*/ 1405487 w 6994136"/>
              <a:gd name="connsiteY1" fmla="*/ 3490053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607124 h 6607124"/>
              <a:gd name="connsiteX1" fmla="*/ 4078801 w 6994136"/>
              <a:gd name="connsiteY1" fmla="*/ 6571601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553841 h 6571601"/>
              <a:gd name="connsiteX1" fmla="*/ 4078801 w 6994136"/>
              <a:gd name="connsiteY1" fmla="*/ 6571601 h 6571601"/>
              <a:gd name="connsiteX2" fmla="*/ 0 w 6994136"/>
              <a:gd name="connsiteY2" fmla="*/ 2193494 h 6571601"/>
              <a:gd name="connsiteX3" fmla="*/ 6994136 w 6994136"/>
              <a:gd name="connsiteY3" fmla="*/ 0 h 6571601"/>
              <a:gd name="connsiteX4" fmla="*/ 6965271 w 6994136"/>
              <a:gd name="connsiteY4" fmla="*/ 3419009 h 6571601"/>
              <a:gd name="connsiteX5" fmla="*/ 4833726 w 6994136"/>
              <a:gd name="connsiteY5" fmla="*/ 6553841 h 6571601"/>
              <a:gd name="connsiteX0" fmla="*/ 4833726 w 6994136"/>
              <a:gd name="connsiteY0" fmla="*/ 6553841 h 6553841"/>
              <a:gd name="connsiteX1" fmla="*/ 4061039 w 6994136"/>
              <a:gd name="connsiteY1" fmla="*/ 6544959 h 6553841"/>
              <a:gd name="connsiteX2" fmla="*/ 0 w 6994136"/>
              <a:gd name="connsiteY2" fmla="*/ 2193494 h 6553841"/>
              <a:gd name="connsiteX3" fmla="*/ 6994136 w 6994136"/>
              <a:gd name="connsiteY3" fmla="*/ 0 h 6553841"/>
              <a:gd name="connsiteX4" fmla="*/ 6965271 w 6994136"/>
              <a:gd name="connsiteY4" fmla="*/ 3419009 h 6553841"/>
              <a:gd name="connsiteX5" fmla="*/ 4833726 w 699413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0 w 7056306"/>
              <a:gd name="connsiteY2" fmla="*/ 2193494 h 6553841"/>
              <a:gd name="connsiteX3" fmla="*/ 7056306 w 7056306"/>
              <a:gd name="connsiteY3" fmla="*/ 0 h 6553841"/>
              <a:gd name="connsiteX4" fmla="*/ 7027441 w 7056306"/>
              <a:gd name="connsiteY4" fmla="*/ 3419009 h 6553841"/>
              <a:gd name="connsiteX5" fmla="*/ 4895896 w 705630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197612 w 7056306"/>
              <a:gd name="connsiteY2" fmla="*/ 2397746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91034 w 7056306"/>
              <a:gd name="connsiteY2" fmla="*/ 2442148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922142 w 7082552"/>
              <a:gd name="connsiteY0" fmla="*/ 6553841 h 6553841"/>
              <a:gd name="connsiteX1" fmla="*/ 4149455 w 7082552"/>
              <a:gd name="connsiteY1" fmla="*/ 6544959 h 6553841"/>
              <a:gd name="connsiteX2" fmla="*/ 117280 w 7082552"/>
              <a:gd name="connsiteY2" fmla="*/ 2442148 h 6553841"/>
              <a:gd name="connsiteX3" fmla="*/ 26246 w 7082552"/>
              <a:gd name="connsiteY3" fmla="*/ 2193494 h 6553841"/>
              <a:gd name="connsiteX4" fmla="*/ 7082552 w 7082552"/>
              <a:gd name="connsiteY4" fmla="*/ 0 h 6553841"/>
              <a:gd name="connsiteX5" fmla="*/ 7053687 w 7082552"/>
              <a:gd name="connsiteY5" fmla="*/ 3419009 h 6553841"/>
              <a:gd name="connsiteX6" fmla="*/ 4922142 w 7082552"/>
              <a:gd name="connsiteY6" fmla="*/ 6553841 h 6553841"/>
              <a:gd name="connsiteX0" fmla="*/ 4950971 w 7111381"/>
              <a:gd name="connsiteY0" fmla="*/ 6553841 h 6553841"/>
              <a:gd name="connsiteX1" fmla="*/ 4178284 w 7111381"/>
              <a:gd name="connsiteY1" fmla="*/ 6544959 h 6553841"/>
              <a:gd name="connsiteX2" fmla="*/ 146109 w 7111381"/>
              <a:gd name="connsiteY2" fmla="*/ 2442148 h 6553841"/>
              <a:gd name="connsiteX3" fmla="*/ 55075 w 7111381"/>
              <a:gd name="connsiteY3" fmla="*/ 2193494 h 6553841"/>
              <a:gd name="connsiteX4" fmla="*/ 7111381 w 7111381"/>
              <a:gd name="connsiteY4" fmla="*/ 0 h 6553841"/>
              <a:gd name="connsiteX5" fmla="*/ 7082516 w 7111381"/>
              <a:gd name="connsiteY5" fmla="*/ 3419009 h 6553841"/>
              <a:gd name="connsiteX6" fmla="*/ 4950971 w 7111381"/>
              <a:gd name="connsiteY6" fmla="*/ 6553841 h 6553841"/>
              <a:gd name="connsiteX0" fmla="*/ 4963653 w 7124063"/>
              <a:gd name="connsiteY0" fmla="*/ 6553841 h 6553841"/>
              <a:gd name="connsiteX1" fmla="*/ 4190966 w 7124063"/>
              <a:gd name="connsiteY1" fmla="*/ 6544959 h 6553841"/>
              <a:gd name="connsiteX2" fmla="*/ 158791 w 7124063"/>
              <a:gd name="connsiteY2" fmla="*/ 2442148 h 6553841"/>
              <a:gd name="connsiteX3" fmla="*/ 67757 w 7124063"/>
              <a:gd name="connsiteY3" fmla="*/ 2193494 h 6553841"/>
              <a:gd name="connsiteX4" fmla="*/ 7124063 w 7124063"/>
              <a:gd name="connsiteY4" fmla="*/ 0 h 6553841"/>
              <a:gd name="connsiteX5" fmla="*/ 7095198 w 7124063"/>
              <a:gd name="connsiteY5" fmla="*/ 3419009 h 6553841"/>
              <a:gd name="connsiteX6" fmla="*/ 4963653 w 7124063"/>
              <a:gd name="connsiteY6" fmla="*/ 6553841 h 6553841"/>
              <a:gd name="connsiteX0" fmla="*/ 4951680 w 7112090"/>
              <a:gd name="connsiteY0" fmla="*/ 6553841 h 6553841"/>
              <a:gd name="connsiteX1" fmla="*/ 4178993 w 7112090"/>
              <a:gd name="connsiteY1" fmla="*/ 6544959 h 6553841"/>
              <a:gd name="connsiteX2" fmla="*/ 146818 w 7112090"/>
              <a:gd name="connsiteY2" fmla="*/ 2442148 h 6553841"/>
              <a:gd name="connsiteX3" fmla="*/ 78234 w 7112090"/>
              <a:gd name="connsiteY3" fmla="*/ 2187080 h 6553841"/>
              <a:gd name="connsiteX4" fmla="*/ 7112090 w 7112090"/>
              <a:gd name="connsiteY4" fmla="*/ 0 h 6553841"/>
              <a:gd name="connsiteX5" fmla="*/ 7083225 w 7112090"/>
              <a:gd name="connsiteY5" fmla="*/ 3419009 h 6553841"/>
              <a:gd name="connsiteX6" fmla="*/ 4951680 w 7112090"/>
              <a:gd name="connsiteY6" fmla="*/ 6553841 h 6553841"/>
              <a:gd name="connsiteX0" fmla="*/ 4951680 w 7083225"/>
              <a:gd name="connsiteY0" fmla="*/ 6527921 h 6527921"/>
              <a:gd name="connsiteX1" fmla="*/ 4178993 w 7083225"/>
              <a:gd name="connsiteY1" fmla="*/ 6519039 h 6527921"/>
              <a:gd name="connsiteX2" fmla="*/ 146818 w 7083225"/>
              <a:gd name="connsiteY2" fmla="*/ 2416228 h 6527921"/>
              <a:gd name="connsiteX3" fmla="*/ 78234 w 7083225"/>
              <a:gd name="connsiteY3" fmla="*/ 2161160 h 6527921"/>
              <a:gd name="connsiteX4" fmla="*/ 7077534 w 7083225"/>
              <a:gd name="connsiteY4" fmla="*/ 0 h 6527921"/>
              <a:gd name="connsiteX5" fmla="*/ 7083225 w 7083225"/>
              <a:gd name="connsiteY5" fmla="*/ 3393089 h 6527921"/>
              <a:gd name="connsiteX6" fmla="*/ 4951680 w 7083225"/>
              <a:gd name="connsiteY6" fmla="*/ 6527921 h 6527921"/>
              <a:gd name="connsiteX0" fmla="*/ 4996130 w 7083225"/>
              <a:gd name="connsiteY0" fmla="*/ 6521571 h 6521571"/>
              <a:gd name="connsiteX1" fmla="*/ 4178993 w 7083225"/>
              <a:gd name="connsiteY1" fmla="*/ 6519039 h 6521571"/>
              <a:gd name="connsiteX2" fmla="*/ 146818 w 7083225"/>
              <a:gd name="connsiteY2" fmla="*/ 2416228 h 6521571"/>
              <a:gd name="connsiteX3" fmla="*/ 78234 w 7083225"/>
              <a:gd name="connsiteY3" fmla="*/ 2161160 h 6521571"/>
              <a:gd name="connsiteX4" fmla="*/ 7077534 w 7083225"/>
              <a:gd name="connsiteY4" fmla="*/ 0 h 6521571"/>
              <a:gd name="connsiteX5" fmla="*/ 7083225 w 7083225"/>
              <a:gd name="connsiteY5" fmla="*/ 3393089 h 6521571"/>
              <a:gd name="connsiteX6" fmla="*/ 4996130 w 7083225"/>
              <a:gd name="connsiteY6" fmla="*/ 6521571 h 6521571"/>
              <a:gd name="connsiteX0" fmla="*/ 4996130 w 7083225"/>
              <a:gd name="connsiteY0" fmla="*/ 6521571 h 6525389"/>
              <a:gd name="connsiteX1" fmla="*/ 4182168 w 7083225"/>
              <a:gd name="connsiteY1" fmla="*/ 6525389 h 6525389"/>
              <a:gd name="connsiteX2" fmla="*/ 146818 w 7083225"/>
              <a:gd name="connsiteY2" fmla="*/ 2416228 h 6525389"/>
              <a:gd name="connsiteX3" fmla="*/ 78234 w 7083225"/>
              <a:gd name="connsiteY3" fmla="*/ 2161160 h 6525389"/>
              <a:gd name="connsiteX4" fmla="*/ 7077534 w 7083225"/>
              <a:gd name="connsiteY4" fmla="*/ 0 h 6525389"/>
              <a:gd name="connsiteX5" fmla="*/ 7083225 w 7083225"/>
              <a:gd name="connsiteY5" fmla="*/ 3393089 h 6525389"/>
              <a:gd name="connsiteX6" fmla="*/ 4996130 w 7083225"/>
              <a:gd name="connsiteY6" fmla="*/ 6521571 h 6525389"/>
              <a:gd name="connsiteX0" fmla="*/ 4996130 w 7084961"/>
              <a:gd name="connsiteY0" fmla="*/ 653271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4996130 w 7084961"/>
              <a:gd name="connsiteY6" fmla="*/ 6532712 h 6536530"/>
              <a:gd name="connsiteX0" fmla="*/ 5013784 w 7084961"/>
              <a:gd name="connsiteY0" fmla="*/ 653624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5013784 w 7084961"/>
              <a:gd name="connsiteY6" fmla="*/ 6536242 h 6536530"/>
              <a:gd name="connsiteX0" fmla="*/ 5013784 w 7084961"/>
              <a:gd name="connsiteY0" fmla="*/ 6536242 h 6547121"/>
              <a:gd name="connsiteX1" fmla="*/ 4185699 w 7084961"/>
              <a:gd name="connsiteY1" fmla="*/ 6547121 h 6547121"/>
              <a:gd name="connsiteX2" fmla="*/ 146818 w 7084961"/>
              <a:gd name="connsiteY2" fmla="*/ 2427369 h 6547121"/>
              <a:gd name="connsiteX3" fmla="*/ 78234 w 7084961"/>
              <a:gd name="connsiteY3" fmla="*/ 2172301 h 6547121"/>
              <a:gd name="connsiteX4" fmla="*/ 7084961 w 7084961"/>
              <a:gd name="connsiteY4" fmla="*/ 0 h 6547121"/>
              <a:gd name="connsiteX5" fmla="*/ 7083225 w 7084961"/>
              <a:gd name="connsiteY5" fmla="*/ 3404230 h 6547121"/>
              <a:gd name="connsiteX6" fmla="*/ 5013784 w 7084961"/>
              <a:gd name="connsiteY6" fmla="*/ 6536242 h 6547121"/>
              <a:gd name="connsiteX0" fmla="*/ 5013784 w 7086830"/>
              <a:gd name="connsiteY0" fmla="*/ 6536242 h 6547121"/>
              <a:gd name="connsiteX1" fmla="*/ 4185699 w 7086830"/>
              <a:gd name="connsiteY1" fmla="*/ 6547121 h 6547121"/>
              <a:gd name="connsiteX2" fmla="*/ 146818 w 7086830"/>
              <a:gd name="connsiteY2" fmla="*/ 2427369 h 6547121"/>
              <a:gd name="connsiteX3" fmla="*/ 78234 w 7086830"/>
              <a:gd name="connsiteY3" fmla="*/ 2172301 h 6547121"/>
              <a:gd name="connsiteX4" fmla="*/ 7084961 w 7086830"/>
              <a:gd name="connsiteY4" fmla="*/ 0 h 6547121"/>
              <a:gd name="connsiteX5" fmla="*/ 7086755 w 7086830"/>
              <a:gd name="connsiteY5" fmla="*/ 3425413 h 6547121"/>
              <a:gd name="connsiteX6" fmla="*/ 5013784 w 7086830"/>
              <a:gd name="connsiteY6" fmla="*/ 6536242 h 6547121"/>
              <a:gd name="connsiteX0" fmla="*/ 5013784 w 7099083"/>
              <a:gd name="connsiteY0" fmla="*/ 6543303 h 6554182"/>
              <a:gd name="connsiteX1" fmla="*/ 4185699 w 7099083"/>
              <a:gd name="connsiteY1" fmla="*/ 6554182 h 6554182"/>
              <a:gd name="connsiteX2" fmla="*/ 146818 w 7099083"/>
              <a:gd name="connsiteY2" fmla="*/ 2434430 h 6554182"/>
              <a:gd name="connsiteX3" fmla="*/ 78234 w 7099083"/>
              <a:gd name="connsiteY3" fmla="*/ 2179362 h 6554182"/>
              <a:gd name="connsiteX4" fmla="*/ 7099083 w 7099083"/>
              <a:gd name="connsiteY4" fmla="*/ 0 h 6554182"/>
              <a:gd name="connsiteX5" fmla="*/ 7086755 w 7099083"/>
              <a:gd name="connsiteY5" fmla="*/ 3432474 h 6554182"/>
              <a:gd name="connsiteX6" fmla="*/ 5013784 w 7099083"/>
              <a:gd name="connsiteY6" fmla="*/ 6543303 h 6554182"/>
              <a:gd name="connsiteX0" fmla="*/ 4996305 w 7081604"/>
              <a:gd name="connsiteY0" fmla="*/ 6543303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96305 w 7081604"/>
              <a:gd name="connsiteY6" fmla="*/ 6543303 h 6554182"/>
              <a:gd name="connsiteX0" fmla="*/ 4989581 w 7081604"/>
              <a:gd name="connsiteY0" fmla="*/ 6553388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89581 w 7081604"/>
              <a:gd name="connsiteY6" fmla="*/ 6553388 h 6554182"/>
              <a:gd name="connsiteX0" fmla="*/ 5006391 w 7081604"/>
              <a:gd name="connsiteY0" fmla="*/ 6556750 h 6556750"/>
              <a:gd name="connsiteX1" fmla="*/ 4168220 w 7081604"/>
              <a:gd name="connsiteY1" fmla="*/ 6554182 h 6556750"/>
              <a:gd name="connsiteX2" fmla="*/ 129339 w 7081604"/>
              <a:gd name="connsiteY2" fmla="*/ 2434430 h 6556750"/>
              <a:gd name="connsiteX3" fmla="*/ 98856 w 7081604"/>
              <a:gd name="connsiteY3" fmla="*/ 2169837 h 6556750"/>
              <a:gd name="connsiteX4" fmla="*/ 7081604 w 7081604"/>
              <a:gd name="connsiteY4" fmla="*/ 0 h 6556750"/>
              <a:gd name="connsiteX5" fmla="*/ 7069276 w 7081604"/>
              <a:gd name="connsiteY5" fmla="*/ 3432474 h 6556750"/>
              <a:gd name="connsiteX6" fmla="*/ 5006391 w 7081604"/>
              <a:gd name="connsiteY6" fmla="*/ 6556750 h 6556750"/>
              <a:gd name="connsiteX0" fmla="*/ 5006391 w 7092829"/>
              <a:gd name="connsiteY0" fmla="*/ 6556750 h 6556750"/>
              <a:gd name="connsiteX1" fmla="*/ 4168220 w 7092829"/>
              <a:gd name="connsiteY1" fmla="*/ 6554182 h 6556750"/>
              <a:gd name="connsiteX2" fmla="*/ 129339 w 7092829"/>
              <a:gd name="connsiteY2" fmla="*/ 2434430 h 6556750"/>
              <a:gd name="connsiteX3" fmla="*/ 98856 w 7092829"/>
              <a:gd name="connsiteY3" fmla="*/ 2169837 h 6556750"/>
              <a:gd name="connsiteX4" fmla="*/ 7081604 w 7092829"/>
              <a:gd name="connsiteY4" fmla="*/ 0 h 6556750"/>
              <a:gd name="connsiteX5" fmla="*/ 7092810 w 7092829"/>
              <a:gd name="connsiteY5" fmla="*/ 3405580 h 6556750"/>
              <a:gd name="connsiteX6" fmla="*/ 5006391 w 7092829"/>
              <a:gd name="connsiteY6" fmla="*/ 6556750 h 6556750"/>
              <a:gd name="connsiteX0" fmla="*/ 5006391 w 7095052"/>
              <a:gd name="connsiteY0" fmla="*/ 6560112 h 6560112"/>
              <a:gd name="connsiteX1" fmla="*/ 4168220 w 7095052"/>
              <a:gd name="connsiteY1" fmla="*/ 655754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5006391 w 7095052"/>
              <a:gd name="connsiteY0" fmla="*/ 6560112 h 6560112"/>
              <a:gd name="connsiteX1" fmla="*/ 3149235 w 7095052"/>
              <a:gd name="connsiteY1" fmla="*/ 569382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3384712 w 7095052"/>
              <a:gd name="connsiteY0" fmla="*/ 5702607 h 5702607"/>
              <a:gd name="connsiteX1" fmla="*/ 3149235 w 7095052"/>
              <a:gd name="connsiteY1" fmla="*/ 5693824 h 5702607"/>
              <a:gd name="connsiteX2" fmla="*/ 129339 w 7095052"/>
              <a:gd name="connsiteY2" fmla="*/ 2437792 h 5702607"/>
              <a:gd name="connsiteX3" fmla="*/ 98856 w 7095052"/>
              <a:gd name="connsiteY3" fmla="*/ 2173199 h 5702607"/>
              <a:gd name="connsiteX4" fmla="*/ 7095052 w 7095052"/>
              <a:gd name="connsiteY4" fmla="*/ 0 h 5702607"/>
              <a:gd name="connsiteX5" fmla="*/ 7092810 w 7095052"/>
              <a:gd name="connsiteY5" fmla="*/ 3408942 h 5702607"/>
              <a:gd name="connsiteX6" fmla="*/ 3384712 w 7095052"/>
              <a:gd name="connsiteY6" fmla="*/ 5702607 h 5702607"/>
              <a:gd name="connsiteX0" fmla="*/ 3384712 w 7092810"/>
              <a:gd name="connsiteY0" fmla="*/ 5652896 h 5652896"/>
              <a:gd name="connsiteX1" fmla="*/ 3149235 w 7092810"/>
              <a:gd name="connsiteY1" fmla="*/ 5644113 h 5652896"/>
              <a:gd name="connsiteX2" fmla="*/ 129339 w 7092810"/>
              <a:gd name="connsiteY2" fmla="*/ 2388081 h 5652896"/>
              <a:gd name="connsiteX3" fmla="*/ 98856 w 7092810"/>
              <a:gd name="connsiteY3" fmla="*/ 2123488 h 5652896"/>
              <a:gd name="connsiteX4" fmla="*/ 6629053 w 7092810"/>
              <a:gd name="connsiteY4" fmla="*/ 0 h 5652896"/>
              <a:gd name="connsiteX5" fmla="*/ 7092810 w 7092810"/>
              <a:gd name="connsiteY5" fmla="*/ 3359231 h 5652896"/>
              <a:gd name="connsiteX6" fmla="*/ 3384712 w 7092810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34785 w 6629053"/>
              <a:gd name="connsiteY5" fmla="*/ 3458652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160811 w 6629053"/>
              <a:gd name="connsiteY5" fmla="*/ 3123106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78278 w 6629053"/>
              <a:gd name="connsiteY5" fmla="*/ 2060544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508758 w 6629053"/>
              <a:gd name="connsiteY5" fmla="*/ 1898985 h 5652896"/>
              <a:gd name="connsiteX6" fmla="*/ 3384712 w 6629053"/>
              <a:gd name="connsiteY6" fmla="*/ 5652896 h 5652896"/>
              <a:gd name="connsiteX0" fmla="*/ 3384712 w 6523426"/>
              <a:gd name="connsiteY0" fmla="*/ 5609400 h 5609400"/>
              <a:gd name="connsiteX1" fmla="*/ 3149235 w 6523426"/>
              <a:gd name="connsiteY1" fmla="*/ 5600617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5931176 w 6523426"/>
              <a:gd name="connsiteY5" fmla="*/ 2555863 h 5609400"/>
              <a:gd name="connsiteX6" fmla="*/ 3384712 w 6523426"/>
              <a:gd name="connsiteY6" fmla="*/ 5609400 h 5609400"/>
              <a:gd name="connsiteX0" fmla="*/ 3384712 w 5931191"/>
              <a:gd name="connsiteY0" fmla="*/ 5421672 h 5421672"/>
              <a:gd name="connsiteX1" fmla="*/ 3118168 w 5931191"/>
              <a:gd name="connsiteY1" fmla="*/ 5406676 h 5421672"/>
              <a:gd name="connsiteX2" fmla="*/ 129339 w 5931191"/>
              <a:gd name="connsiteY2" fmla="*/ 2156857 h 5421672"/>
              <a:gd name="connsiteX3" fmla="*/ 98856 w 5931191"/>
              <a:gd name="connsiteY3" fmla="*/ 1892264 h 5421672"/>
              <a:gd name="connsiteX4" fmla="*/ 5916965 w 5931191"/>
              <a:gd name="connsiteY4" fmla="*/ 0 h 5421672"/>
              <a:gd name="connsiteX5" fmla="*/ 5931176 w 5931191"/>
              <a:gd name="connsiteY5" fmla="*/ 2368135 h 5421672"/>
              <a:gd name="connsiteX6" fmla="*/ 3384712 w 5931191"/>
              <a:gd name="connsiteY6" fmla="*/ 5421672 h 5421672"/>
              <a:gd name="connsiteX0" fmla="*/ 3384712 w 5931205"/>
              <a:gd name="connsiteY0" fmla="*/ 5421672 h 5421672"/>
              <a:gd name="connsiteX1" fmla="*/ 3118168 w 5931205"/>
              <a:gd name="connsiteY1" fmla="*/ 5406676 h 5421672"/>
              <a:gd name="connsiteX2" fmla="*/ 129339 w 5931205"/>
              <a:gd name="connsiteY2" fmla="*/ 2156857 h 5421672"/>
              <a:gd name="connsiteX3" fmla="*/ 98856 w 5931205"/>
              <a:gd name="connsiteY3" fmla="*/ 1892264 h 5421672"/>
              <a:gd name="connsiteX4" fmla="*/ 5916965 w 5931205"/>
              <a:gd name="connsiteY4" fmla="*/ 0 h 5421672"/>
              <a:gd name="connsiteX5" fmla="*/ 5931176 w 5931205"/>
              <a:gd name="connsiteY5" fmla="*/ 2368135 h 5421672"/>
              <a:gd name="connsiteX6" fmla="*/ 3384712 w 5931205"/>
              <a:gd name="connsiteY6" fmla="*/ 5421672 h 5421672"/>
              <a:gd name="connsiteX0" fmla="*/ 3384712 w 5931205"/>
              <a:gd name="connsiteY0" fmla="*/ 5421672 h 5427214"/>
              <a:gd name="connsiteX1" fmla="*/ 3130492 w 5931205"/>
              <a:gd name="connsiteY1" fmla="*/ 5427214 h 5427214"/>
              <a:gd name="connsiteX2" fmla="*/ 129339 w 5931205"/>
              <a:gd name="connsiteY2" fmla="*/ 2156857 h 5427214"/>
              <a:gd name="connsiteX3" fmla="*/ 98856 w 5931205"/>
              <a:gd name="connsiteY3" fmla="*/ 1892264 h 5427214"/>
              <a:gd name="connsiteX4" fmla="*/ 5916965 w 5931205"/>
              <a:gd name="connsiteY4" fmla="*/ 0 h 5427214"/>
              <a:gd name="connsiteX5" fmla="*/ 5931176 w 5931205"/>
              <a:gd name="connsiteY5" fmla="*/ 2368135 h 5427214"/>
              <a:gd name="connsiteX6" fmla="*/ 3384712 w 5931205"/>
              <a:gd name="connsiteY6" fmla="*/ 5421672 h 5427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31205" h="5427214">
                <a:moveTo>
                  <a:pt x="3384712" y="5421672"/>
                </a:moveTo>
                <a:lnTo>
                  <a:pt x="3130492" y="5427214"/>
                </a:lnTo>
                <a:cubicBezTo>
                  <a:pt x="1809052" y="4010467"/>
                  <a:pt x="1475633" y="3530108"/>
                  <a:pt x="129339" y="2156857"/>
                </a:cubicBezTo>
                <a:cubicBezTo>
                  <a:pt x="-87432" y="1945812"/>
                  <a:pt x="15569" y="1932016"/>
                  <a:pt x="98856" y="1892264"/>
                </a:cubicBezTo>
                <a:lnTo>
                  <a:pt x="5916965" y="0"/>
                </a:lnTo>
                <a:cubicBezTo>
                  <a:pt x="5923606" y="1091421"/>
                  <a:pt x="5931755" y="1233392"/>
                  <a:pt x="5931176" y="2368135"/>
                </a:cubicBezTo>
                <a:lnTo>
                  <a:pt x="3384712" y="5421672"/>
                </a:lnTo>
                <a:close/>
              </a:path>
            </a:pathLst>
          </a:custGeom>
          <a:blipFill dpi="0"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4720876-3CA7-744D-A10D-DA2A0D62BA9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933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Section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F6B96-A12F-1945-8D91-2097D3B33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CDD162A-821F-1945-842E-1D5AE800FF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5181"/>
          <a:stretch/>
        </p:blipFill>
        <p:spPr>
          <a:xfrm>
            <a:off x="0" y="2176042"/>
            <a:ext cx="12192000" cy="4698000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298D650-E8F3-4545-ABF5-903E2FF5D0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999" y="1980000"/>
            <a:ext cx="5040000" cy="1800000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Section </a:t>
            </a:r>
            <a:br>
              <a:rPr lang="en-US" dirty="0"/>
            </a:br>
            <a:r>
              <a:rPr lang="en-US" dirty="0"/>
              <a:t>header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8E0E0F3-5DCB-3A49-8070-D9496897D82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60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sub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4237200" y="1800000"/>
            <a:ext cx="3607200" cy="4256262"/>
          </a:xfrm>
          <a:prstGeom prst="rect">
            <a:avLst/>
          </a:prstGeom>
        </p:spPr>
        <p:txBody>
          <a:bodyPr vert="horz">
            <a:noAutofit/>
          </a:bodyPr>
          <a:lstStyle>
            <a:lvl1pPr algn="l">
              <a:lnSpc>
                <a:spcPct val="100000"/>
              </a:lnSpc>
              <a:defRPr sz="1600">
                <a:solidFill>
                  <a:schemeClr val="tx1"/>
                </a:solidFill>
              </a:defRPr>
            </a:lvl1pPr>
            <a:lvl2pPr algn="l">
              <a:defRPr sz="2000">
                <a:solidFill>
                  <a:schemeClr val="accent2"/>
                </a:solidFill>
              </a:defRPr>
            </a:lvl2pPr>
            <a:lvl3pPr algn="l">
              <a:defRPr sz="2000">
                <a:solidFill>
                  <a:schemeClr val="accent2"/>
                </a:solidFill>
              </a:defRPr>
            </a:lvl3pPr>
            <a:lvl4pPr algn="l">
              <a:defRPr sz="2000">
                <a:solidFill>
                  <a:schemeClr val="accent2"/>
                </a:solidFill>
              </a:defRPr>
            </a:lvl4pPr>
            <a:lvl5pPr algn="l">
              <a:defRPr sz="2000"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dirty="0" err="1"/>
              <a:t>Bodycopy</a:t>
            </a:r>
            <a:r>
              <a:rPr lang="en-GB" dirty="0"/>
              <a:t> in here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0000" y="1800000"/>
            <a:ext cx="3600000" cy="4256262"/>
          </a:xfrm>
          <a:prstGeom prst="rect">
            <a:avLst/>
          </a:prstGeom>
        </p:spPr>
        <p:txBody>
          <a:bodyPr vert="horz">
            <a:noAutofit/>
          </a:bodyPr>
          <a:lstStyle>
            <a:lvl1pPr algn="l">
              <a:lnSpc>
                <a:spcPct val="100000"/>
              </a:lnSpc>
              <a:defRPr sz="1600">
                <a:solidFill>
                  <a:schemeClr val="tx1"/>
                </a:solidFill>
              </a:defRPr>
            </a:lvl1pPr>
            <a:lvl2pPr algn="l">
              <a:defRPr sz="2000">
                <a:solidFill>
                  <a:schemeClr val="accent2"/>
                </a:solidFill>
              </a:defRPr>
            </a:lvl2pPr>
            <a:lvl3pPr algn="l">
              <a:defRPr sz="2000">
                <a:solidFill>
                  <a:schemeClr val="accent2"/>
                </a:solidFill>
              </a:defRPr>
            </a:lvl3pPr>
            <a:lvl4pPr algn="l">
              <a:defRPr sz="2000">
                <a:solidFill>
                  <a:schemeClr val="accent2"/>
                </a:solidFill>
              </a:defRPr>
            </a:lvl4pPr>
            <a:lvl5pPr algn="l">
              <a:defRPr sz="2000"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dirty="0" err="1"/>
              <a:t>Bodycopy</a:t>
            </a:r>
            <a:r>
              <a:rPr lang="en-GB" dirty="0"/>
              <a:t> in here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C4B34AF1-3AD0-DE4E-91C8-39A92B56658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493E1F-F28C-FD47-B996-3EBF17D328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2BBEFAE-7438-F548-BFC6-9CD53B767E2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514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svg"/><Relationship Id="rId4" Type="http://schemas.openxmlformats.org/officeDocument/2006/relationships/theme" Target="../theme/theme1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 userDrawn="1"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 userDrawn="1"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 userDrawn="1"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 userDrawn="1"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 userDrawn="1"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 userDrawn="1"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 userDrawn="1"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 userDrawn="1"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 userDrawn="1"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 userDrawn="1"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 userDrawn="1"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 userDrawn="1"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 userDrawn="1"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MSIPCMContentMarking" descr="{&quot;HashCode&quot;:-21287891,&quot;Placement&quot;:&quot;Footer&quot;,&quot;Top&quot;:522.0343,&quot;Left&quot;:0.0,&quot;SlideWidth&quot;:960,&quot;SlideHeight&quot;:540}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 userDrawn="1"/>
        </p:nvSpPr>
        <p:spPr>
          <a:xfrm>
            <a:off x="0" y="6629836"/>
            <a:ext cx="963011" cy="22816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800">
                <a:solidFill>
                  <a:srgbClr val="000000"/>
                </a:solidFill>
                <a:latin typeface="Calibri" panose="020F0502020204030204" pitchFamily="34" charset="0"/>
                <a:cs typeface="Arial" panose="020B0604020202020204" pitchFamily="34" charset="0"/>
              </a:rPr>
              <a:t>[AIA – INTERNAL]</a:t>
            </a:r>
            <a:endParaRPr lang="en-GB" sz="800" dirty="0" err="1">
              <a:solidFill>
                <a:srgbClr val="000000"/>
              </a:solidFill>
              <a:latin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4199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88" r:id="rId2"/>
    <p:sldLayoutId id="2147483681" r:id="rId3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 userDrawn="1">
          <p15:clr>
            <a:srgbClr val="F26B43"/>
          </p15:clr>
        </p15:guide>
        <p15:guide id="2" pos="744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6D2FFAB7-A7E6-27AB-3759-EFBE3A4DE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0000" y="4793210"/>
            <a:ext cx="5080000" cy="358775"/>
          </a:xfrm>
        </p:spPr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2AC02-9655-5648-5A5F-852BB03D89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2160000"/>
            <a:ext cx="5942830" cy="2371180"/>
          </a:xfrm>
        </p:spPr>
        <p:txBody>
          <a:bodyPr/>
          <a:lstStyle/>
          <a:p>
            <a:r>
              <a:rPr lang="en-US" dirty="0"/>
              <a:t>Enhancing Doctor Status Re-Validation in Customer Claims STP Process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0116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D8E7B-FEF9-32D0-56E1-71C10775E1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540000"/>
            <a:ext cx="10825071" cy="545850"/>
          </a:xfrm>
        </p:spPr>
        <p:txBody>
          <a:bodyPr/>
          <a:lstStyle/>
          <a:p>
            <a:r>
              <a:rPr lang="en-US" dirty="0"/>
              <a:t>Current STP Workflow Overview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FAE109-CE55-D62C-7D80-00B2211A1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2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9F5EC-F871-0256-600A-B9F6E900F166}"/>
              </a:ext>
            </a:extLst>
          </p:cNvPr>
          <p:cNvGrpSpPr/>
          <p:nvPr/>
        </p:nvGrpSpPr>
        <p:grpSpPr>
          <a:xfrm>
            <a:off x="539999" y="1282734"/>
            <a:ext cx="10578071" cy="4890898"/>
            <a:chOff x="539999" y="1282734"/>
            <a:chExt cx="10578071" cy="489089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7CE539D-EDE4-7A6A-F89A-4345F2A44F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9999" y="1282734"/>
              <a:ext cx="10578071" cy="4799659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F1F0EF1-1C2E-3937-A76F-D7107EA82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21557" y="5424289"/>
              <a:ext cx="968687" cy="7493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7218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EA9D9B-DC65-FB07-C5D9-C7A9EF4A7C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Provider Validation Logic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6D61B5-9DFA-E44C-85C7-82B3886572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9C565E3-C35B-8EEC-EFE9-19CB8B0F1E98}"/>
              </a:ext>
            </a:extLst>
          </p:cNvPr>
          <p:cNvSpPr txBox="1">
            <a:spLocks/>
          </p:cNvSpPr>
          <p:nvPr/>
        </p:nvSpPr>
        <p:spPr>
          <a:xfrm>
            <a:off x="360000" y="1800000"/>
            <a:ext cx="3600000" cy="425626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3EF7F33-0942-4806-00E6-7F61C800BC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999" y="2326128"/>
            <a:ext cx="11604126" cy="2205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836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E688F5-02E0-35C1-DF22-4392FC6DC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9999" y="540000"/>
            <a:ext cx="11160001" cy="758121"/>
          </a:xfrm>
        </p:spPr>
        <p:txBody>
          <a:bodyPr/>
          <a:lstStyle/>
          <a:p>
            <a:r>
              <a:rPr lang="en-US" dirty="0"/>
              <a:t>Provider Validation Logic – Zoom In</a:t>
            </a:r>
            <a:endParaRPr lang="en-GB" dirty="0"/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1E7C99-074A-4B37-3254-9D89E0389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80684D-119B-74FD-5AC5-B0864F6EA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170" y="1298121"/>
            <a:ext cx="7917656" cy="3465962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51840E7-F9CC-E0FC-4DF1-AD21C2EB9AB2}"/>
              </a:ext>
            </a:extLst>
          </p:cNvPr>
          <p:cNvSpPr txBox="1">
            <a:spLocks/>
          </p:cNvSpPr>
          <p:nvPr/>
        </p:nvSpPr>
        <p:spPr>
          <a:xfrm>
            <a:off x="3728704" y="4764083"/>
            <a:ext cx="4422589" cy="6972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dirty="0">
                <a:solidFill>
                  <a:srgbClr val="FF0000"/>
                </a:solidFill>
              </a:rPr>
              <a:t>Validation occurs at onboarding only.</a:t>
            </a:r>
            <a:endParaRPr lang="en-GB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5537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3D7951-E40B-605F-DC0F-506A1863647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9999" y="1800000"/>
            <a:ext cx="9621399" cy="4256262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Once added to internal doctor list, provider status is not periodically reconciled against the official medical registry.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Therefore, status changes after onboarding may go undetected.</a:t>
            </a:r>
            <a:endParaRPr lang="en-GB" sz="2000" dirty="0"/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Retired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/>
              <a:t>Banned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/>
              <a:t>License expired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/>
              <a:t>Other status changes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D9EFA4-1812-4687-4137-1D9C73D73F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Control Gap – No Ongoing Status Re-Validation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C6195A-C4AE-58D8-27DE-F6EC5DE3C0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21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3424B-27BD-BE7E-C7AE-F14F2F6C04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60000" y="1800000"/>
            <a:ext cx="7477714" cy="4256262"/>
          </a:xfrm>
        </p:spPr>
        <p:txBody>
          <a:bodyPr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Reliance on static internal list.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Potential outdated provider status.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Exposure to compliance and audit findings.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Process design does not ensure ongoing eligibility.</a:t>
            </a:r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D85D5-3032-D9CC-35EE-32BA90493C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Risk Implications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9C231A-213A-7B3B-6A56-CCAF264648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82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Diagram 15">
            <a:extLst>
              <a:ext uri="{FF2B5EF4-FFF2-40B4-BE49-F238E27FC236}">
                <a16:creationId xmlns:a16="http://schemas.microsoft.com/office/drawing/2014/main" id="{B73CE050-8A69-6B3B-0A83-C0FA3BB8F5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6800135"/>
              </p:ext>
            </p:extLst>
          </p:nvPr>
        </p:nvGraphicFramePr>
        <p:xfrm>
          <a:off x="360000" y="1800000"/>
          <a:ext cx="9241200" cy="425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81A7C-50C1-A0EF-9C53-729E74D159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Proposed Control Enhancement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8C3773-0362-A33A-9847-6CEC7815EE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284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5D822-CBAE-5D67-18A5-A258CAEC15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C4B62985-2709-1560-2104-C3832A35B8C3}"/>
              </a:ext>
            </a:extLst>
          </p:cNvPr>
          <p:cNvSpPr txBox="1">
            <a:spLocks/>
          </p:cNvSpPr>
          <p:nvPr/>
        </p:nvSpPr>
        <p:spPr>
          <a:xfrm>
            <a:off x="360000" y="1800000"/>
            <a:ext cx="6835930" cy="291679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000" dirty="0"/>
              <a:t>Eliminates manual checking.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000" dirty="0"/>
              <a:t>Ensures consistent verification.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000" dirty="0"/>
              <a:t>Strengthens ongoing provider eligibility control.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4FAFA04-68C1-9BFE-DA23-8B5272E34FF1}"/>
              </a:ext>
            </a:extLst>
          </p:cNvPr>
          <p:cNvGrpSpPr/>
          <p:nvPr/>
        </p:nvGrpSpPr>
        <p:grpSpPr>
          <a:xfrm>
            <a:off x="4553760" y="1061786"/>
            <a:ext cx="6228260" cy="5007477"/>
            <a:chOff x="3841490" y="936657"/>
            <a:chExt cx="6228260" cy="5007477"/>
          </a:xfrm>
        </p:grpSpPr>
        <p:pic>
          <p:nvPicPr>
            <p:cNvPr id="7" name="Picture 2" descr="Save Time Icon Vector Art, Icons, and Graphics for Free Download">
              <a:extLst>
                <a:ext uri="{FF2B5EF4-FFF2-40B4-BE49-F238E27FC236}">
                  <a16:creationId xmlns:a16="http://schemas.microsoft.com/office/drawing/2014/main" id="{C2002756-644A-0FDB-9CF9-293E6290AA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40000" y="936657"/>
              <a:ext cx="1899182" cy="18991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A speedometer with different colored faces&#10;&#10;AI-generated content may be incorrect.">
              <a:extLst>
                <a:ext uri="{FF2B5EF4-FFF2-40B4-BE49-F238E27FC236}">
                  <a16:creationId xmlns:a16="http://schemas.microsoft.com/office/drawing/2014/main" id="{664CA434-B962-86AE-A544-4F54B540AC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7506" y="4065390"/>
              <a:ext cx="2362244" cy="1878744"/>
            </a:xfrm>
            <a:prstGeom prst="rect">
              <a:avLst/>
            </a:prstGeom>
          </p:spPr>
        </p:pic>
        <p:sp>
          <p:nvSpPr>
            <p:cNvPr id="9" name="Left-Right Arrow 11">
              <a:extLst>
                <a:ext uri="{FF2B5EF4-FFF2-40B4-BE49-F238E27FC236}">
                  <a16:creationId xmlns:a16="http://schemas.microsoft.com/office/drawing/2014/main" id="{56531BF3-C381-96F0-3A3B-1A10C48531FB}"/>
                </a:ext>
              </a:extLst>
            </p:cNvPr>
            <p:cNvSpPr/>
            <p:nvPr/>
          </p:nvSpPr>
          <p:spPr>
            <a:xfrm>
              <a:off x="6314238" y="4774107"/>
              <a:ext cx="1150705" cy="276447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Left-Right Arrow 12">
              <a:extLst>
                <a:ext uri="{FF2B5EF4-FFF2-40B4-BE49-F238E27FC236}">
                  <a16:creationId xmlns:a16="http://schemas.microsoft.com/office/drawing/2014/main" id="{8D23A68D-4F6B-EEB9-7830-367C879D3127}"/>
                </a:ext>
              </a:extLst>
            </p:cNvPr>
            <p:cNvSpPr/>
            <p:nvPr/>
          </p:nvSpPr>
          <p:spPr>
            <a:xfrm rot="2935885">
              <a:off x="7263829" y="3222195"/>
              <a:ext cx="1150705" cy="276447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-Right Arrow 13">
              <a:extLst>
                <a:ext uri="{FF2B5EF4-FFF2-40B4-BE49-F238E27FC236}">
                  <a16:creationId xmlns:a16="http://schemas.microsoft.com/office/drawing/2014/main" id="{03940D36-D56F-6446-EBDB-936CF58AF4BC}"/>
                </a:ext>
              </a:extLst>
            </p:cNvPr>
            <p:cNvSpPr/>
            <p:nvPr/>
          </p:nvSpPr>
          <p:spPr>
            <a:xfrm rot="18477443">
              <a:off x="5364648" y="3236282"/>
              <a:ext cx="1150705" cy="276447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4" descr="Scalable system vector icon can be used for data analytics iconset |  Premium Vector">
              <a:extLst>
                <a:ext uri="{FF2B5EF4-FFF2-40B4-BE49-F238E27FC236}">
                  <a16:creationId xmlns:a16="http://schemas.microsoft.com/office/drawing/2014/main" id="{A5DC2B54-6553-F3C2-AEEB-98356B85C7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41490" y="3913170"/>
              <a:ext cx="1998323" cy="19983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6F98079-0A56-BDB0-FE77-32008C984B72}"/>
              </a:ext>
            </a:extLst>
          </p:cNvPr>
          <p:cNvSpPr txBox="1">
            <a:spLocks/>
          </p:cNvSpPr>
          <p:nvPr/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ts val="32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kern="1200">
                <a:solidFill>
                  <a:srgbClr val="333D47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/>
              <a:t>Business Value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5993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F14101-9C45-B999-A22D-70E4D9203B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1947515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277</TotalTime>
  <Words>198</Words>
  <Application>Microsoft Office PowerPoint</Application>
  <PresentationFormat>Widescreen</PresentationFormat>
  <Paragraphs>38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Helvetica Neue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Wang, Harry-CC</cp:lastModifiedBy>
  <cp:revision>6</cp:revision>
  <cp:lastPrinted>2020-05-18T12:18:52Z</cp:lastPrinted>
  <dcterms:created xsi:type="dcterms:W3CDTF">2026-02-13T01:36:38Z</dcterms:created>
  <dcterms:modified xsi:type="dcterms:W3CDTF">2026-02-13T06:50:18Z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dac7489-8e74-4740-9640-de6a90bd2a80_Enabled">
    <vt:lpwstr>true</vt:lpwstr>
  </property>
  <property fmtid="{D5CDD505-2E9C-101B-9397-08002B2CF9AE}" pid="3" name="MSIP_Label_edac7489-8e74-4740-9640-de6a90bd2a80_SetDate">
    <vt:lpwstr>2024-03-21T07:18:01Z</vt:lpwstr>
  </property>
  <property fmtid="{D5CDD505-2E9C-101B-9397-08002B2CF9AE}" pid="4" name="MSIP_Label_edac7489-8e74-4740-9640-de6a90bd2a80_Method">
    <vt:lpwstr>Standard</vt:lpwstr>
  </property>
  <property fmtid="{D5CDD505-2E9C-101B-9397-08002B2CF9AE}" pid="5" name="MSIP_Label_edac7489-8e74-4740-9640-de6a90bd2a80_Name">
    <vt:lpwstr>edac7489-8e74-4740-9640-de6a90bd2a80</vt:lpwstr>
  </property>
  <property fmtid="{D5CDD505-2E9C-101B-9397-08002B2CF9AE}" pid="6" name="MSIP_Label_edac7489-8e74-4740-9640-de6a90bd2a80_SiteId">
    <vt:lpwstr>7f2c1900-9fd4-4b89-91d3-79a649996f0a</vt:lpwstr>
  </property>
  <property fmtid="{D5CDD505-2E9C-101B-9397-08002B2CF9AE}" pid="7" name="MSIP_Label_edac7489-8e74-4740-9640-de6a90bd2a80_ActionId">
    <vt:lpwstr>a408d18a-af58-4859-91c5-f9d86747a9db</vt:lpwstr>
  </property>
  <property fmtid="{D5CDD505-2E9C-101B-9397-08002B2CF9AE}" pid="8" name="MSIP_Label_edac7489-8e74-4740-9640-de6a90bd2a80_ContentBits">
    <vt:lpwstr>2</vt:lpwstr>
  </property>
</Properties>
</file>