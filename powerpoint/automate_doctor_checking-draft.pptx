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915C"/>
    <a:srgbClr val="68655A"/>
    <a:srgbClr val="FF7A85"/>
    <a:srgbClr val="4C4794"/>
    <a:srgbClr val="333D47"/>
    <a:srgbClr val="F1C400"/>
    <a:srgbClr val="D31145"/>
    <a:srgbClr val="42005B"/>
    <a:srgbClr val="42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4" autoAdjust="0"/>
    <p:restoredTop sz="94687"/>
  </p:normalViewPr>
  <p:slideViewPr>
    <p:cSldViewPr snapToGrid="0" showGuides="1">
      <p:cViewPr varScale="1">
        <p:scale>
          <a:sx n="122" d="100"/>
          <a:sy n="122" d="100"/>
        </p:scale>
        <p:origin x="240" y="328"/>
      </p:cViewPr>
      <p:guideLst>
        <p:guide orient="horz" pos="2160"/>
        <p:guide pos="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6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18ECE-A34A-49B3-9686-CAB705FE9FAE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CF2FCE-B231-44AD-BE06-D54B55D77B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4142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A36D-3A4E-49AB-8998-33E386CC9347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808D9-4A71-422D-8C20-E440E917B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085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C8B2D97-7482-B047-9B05-E59F4C8D454C}"/>
              </a:ext>
            </a:extLst>
          </p:cNvPr>
          <p:cNvGrpSpPr/>
          <p:nvPr userDrawn="1"/>
        </p:nvGrpSpPr>
        <p:grpSpPr>
          <a:xfrm>
            <a:off x="0" y="-5486"/>
            <a:ext cx="12192000" cy="6863486"/>
            <a:chOff x="0" y="-5486"/>
            <a:chExt cx="12192000" cy="686348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65177B-4800-6A4D-ACF1-A60D3E36484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4AB8107-860B-CD4F-9FC2-3EAC6C28038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546" r="5124"/>
            <a:stretch/>
          </p:blipFill>
          <p:spPr>
            <a:xfrm>
              <a:off x="624742" y="-5486"/>
              <a:ext cx="11567258" cy="6683445"/>
            </a:xfrm>
            <a:prstGeom prst="rect">
              <a:avLst/>
            </a:prstGeom>
          </p:spPr>
        </p:pic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7418E04C-6267-3C40-8045-E595A3F20DE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CC8A58C-864F-7041-A6F9-451CDBB94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FA8A1-E8CC-7447-A8CA-4C3E1E53C399}"/>
              </a:ext>
            </a:extLst>
          </p:cNvPr>
          <p:cNvSpPr txBox="1"/>
          <p:nvPr userDrawn="1"/>
        </p:nvSpPr>
        <p:spPr>
          <a:xfrm>
            <a:off x="-1170000" y="2440557"/>
            <a:ext cx="1052488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00" dirty="0">
                <a:solidFill>
                  <a:srgbClr val="333D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image can be replaced here and master view</a:t>
            </a:r>
          </a:p>
          <a:p>
            <a:pPr algn="l"/>
            <a:endParaRPr lang="en-US" sz="1000" dirty="0">
              <a:solidFill>
                <a:srgbClr val="333D4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GB" sz="1000" dirty="0">
                <a:latin typeface="Helvetica Neue" panose="02000503000000020004" pitchFamily="2" charset="0"/>
              </a:rPr>
              <a:t>Please </a:t>
            </a:r>
            <a:r>
              <a:rPr lang="en-GB" sz="1000" b="1" dirty="0">
                <a:latin typeface="Helvetica Neue" panose="02000503000000020004" pitchFamily="2" charset="0"/>
              </a:rPr>
              <a:t>do not </a:t>
            </a:r>
            <a:r>
              <a:rPr lang="en-GB" sz="1000" dirty="0">
                <a:latin typeface="Helvetica Neue" panose="02000503000000020004" pitchFamily="2" charset="0"/>
              </a:rPr>
              <a:t>use any internal photo competition participants’ images</a:t>
            </a:r>
            <a:endParaRPr lang="en-US" sz="1000" dirty="0">
              <a:solidFill>
                <a:srgbClr val="333D4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25017-062B-8F43-A169-03040D11D39C}"/>
              </a:ext>
            </a:extLst>
          </p:cNvPr>
          <p:cNvSpPr txBox="1"/>
          <p:nvPr userDrawn="1"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rapezoid 5">
            <a:extLst>
              <a:ext uri="{FF2B5EF4-FFF2-40B4-BE49-F238E27FC236}">
                <a16:creationId xmlns:a16="http://schemas.microsoft.com/office/drawing/2014/main" id="{2D70B633-359E-094E-8547-ABD066006107}"/>
              </a:ext>
            </a:extLst>
          </p:cNvPr>
          <p:cNvSpPr/>
          <p:nvPr userDrawn="1"/>
        </p:nvSpPr>
        <p:spPr>
          <a:xfrm>
            <a:off x="6337300" y="1493839"/>
            <a:ext cx="5868000" cy="5369646"/>
          </a:xfrm>
          <a:custGeom>
            <a:avLst/>
            <a:gdLst>
              <a:gd name="connsiteX0" fmla="*/ 0 w 3508169"/>
              <a:gd name="connsiteY0" fmla="*/ 3543337 h 3543337"/>
              <a:gd name="connsiteX1" fmla="*/ 877042 w 3508169"/>
              <a:gd name="connsiteY1" fmla="*/ 0 h 3543337"/>
              <a:gd name="connsiteX2" fmla="*/ 2631127 w 3508169"/>
              <a:gd name="connsiteY2" fmla="*/ 0 h 3543337"/>
              <a:gd name="connsiteX3" fmla="*/ 3508169 w 3508169"/>
              <a:gd name="connsiteY3" fmla="*/ 3543337 h 3543337"/>
              <a:gd name="connsiteX4" fmla="*/ 0 w 3508169"/>
              <a:gd name="connsiteY4" fmla="*/ 3543337 h 3543337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3508169 w 6086008"/>
              <a:gd name="connsiteY3" fmla="*/ 5470415 h 5470415"/>
              <a:gd name="connsiteX4" fmla="*/ 0 w 6086008"/>
              <a:gd name="connsiteY4" fmla="*/ 5470415 h 5470415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6057143 w 6086008"/>
              <a:gd name="connsiteY3" fmla="*/ 3419009 h 5470415"/>
              <a:gd name="connsiteX4" fmla="*/ 0 w 6086008"/>
              <a:gd name="connsiteY4" fmla="*/ 5470415 h 5470415"/>
              <a:gd name="connsiteX0" fmla="*/ 3048556 w 5208966"/>
              <a:gd name="connsiteY0" fmla="*/ 6607124 h 6607124"/>
              <a:gd name="connsiteX1" fmla="*/ 0 w 5208966"/>
              <a:gd name="connsiteY1" fmla="*/ 1927078 h 6607124"/>
              <a:gd name="connsiteX2" fmla="*/ 5208966 w 5208966"/>
              <a:gd name="connsiteY2" fmla="*/ 0 h 6607124"/>
              <a:gd name="connsiteX3" fmla="*/ 5180101 w 5208966"/>
              <a:gd name="connsiteY3" fmla="*/ 3419009 h 6607124"/>
              <a:gd name="connsiteX4" fmla="*/ 3048556 w 5208966"/>
              <a:gd name="connsiteY4" fmla="*/ 6607124 h 6607124"/>
              <a:gd name="connsiteX0" fmla="*/ 4833726 w 6994136"/>
              <a:gd name="connsiteY0" fmla="*/ 6607124 h 6607124"/>
              <a:gd name="connsiteX1" fmla="*/ 0 w 6994136"/>
              <a:gd name="connsiteY1" fmla="*/ 2193494 h 6607124"/>
              <a:gd name="connsiteX2" fmla="*/ 6994136 w 6994136"/>
              <a:gd name="connsiteY2" fmla="*/ 0 h 6607124"/>
              <a:gd name="connsiteX3" fmla="*/ 6965271 w 6994136"/>
              <a:gd name="connsiteY3" fmla="*/ 3419009 h 6607124"/>
              <a:gd name="connsiteX4" fmla="*/ 4833726 w 6994136"/>
              <a:gd name="connsiteY4" fmla="*/ 6607124 h 6607124"/>
              <a:gd name="connsiteX0" fmla="*/ 4833726 w 6994136"/>
              <a:gd name="connsiteY0" fmla="*/ 6607124 h 6607124"/>
              <a:gd name="connsiteX1" fmla="*/ 1405487 w 6994136"/>
              <a:gd name="connsiteY1" fmla="*/ 3490053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607124 h 6607124"/>
              <a:gd name="connsiteX1" fmla="*/ 4078801 w 6994136"/>
              <a:gd name="connsiteY1" fmla="*/ 6571601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553841 h 6571601"/>
              <a:gd name="connsiteX1" fmla="*/ 4078801 w 6994136"/>
              <a:gd name="connsiteY1" fmla="*/ 6571601 h 6571601"/>
              <a:gd name="connsiteX2" fmla="*/ 0 w 6994136"/>
              <a:gd name="connsiteY2" fmla="*/ 2193494 h 6571601"/>
              <a:gd name="connsiteX3" fmla="*/ 6994136 w 6994136"/>
              <a:gd name="connsiteY3" fmla="*/ 0 h 6571601"/>
              <a:gd name="connsiteX4" fmla="*/ 6965271 w 6994136"/>
              <a:gd name="connsiteY4" fmla="*/ 3419009 h 6571601"/>
              <a:gd name="connsiteX5" fmla="*/ 4833726 w 6994136"/>
              <a:gd name="connsiteY5" fmla="*/ 6553841 h 6571601"/>
              <a:gd name="connsiteX0" fmla="*/ 4833726 w 6994136"/>
              <a:gd name="connsiteY0" fmla="*/ 6553841 h 6553841"/>
              <a:gd name="connsiteX1" fmla="*/ 4061039 w 6994136"/>
              <a:gd name="connsiteY1" fmla="*/ 6544959 h 6553841"/>
              <a:gd name="connsiteX2" fmla="*/ 0 w 6994136"/>
              <a:gd name="connsiteY2" fmla="*/ 2193494 h 6553841"/>
              <a:gd name="connsiteX3" fmla="*/ 6994136 w 6994136"/>
              <a:gd name="connsiteY3" fmla="*/ 0 h 6553841"/>
              <a:gd name="connsiteX4" fmla="*/ 6965271 w 6994136"/>
              <a:gd name="connsiteY4" fmla="*/ 3419009 h 6553841"/>
              <a:gd name="connsiteX5" fmla="*/ 4833726 w 699413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0 w 7056306"/>
              <a:gd name="connsiteY2" fmla="*/ 2193494 h 6553841"/>
              <a:gd name="connsiteX3" fmla="*/ 7056306 w 7056306"/>
              <a:gd name="connsiteY3" fmla="*/ 0 h 6553841"/>
              <a:gd name="connsiteX4" fmla="*/ 7027441 w 7056306"/>
              <a:gd name="connsiteY4" fmla="*/ 3419009 h 6553841"/>
              <a:gd name="connsiteX5" fmla="*/ 4895896 w 705630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197612 w 7056306"/>
              <a:gd name="connsiteY2" fmla="*/ 2397746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91034 w 7056306"/>
              <a:gd name="connsiteY2" fmla="*/ 2442148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922142 w 7082552"/>
              <a:gd name="connsiteY0" fmla="*/ 6553841 h 6553841"/>
              <a:gd name="connsiteX1" fmla="*/ 4149455 w 7082552"/>
              <a:gd name="connsiteY1" fmla="*/ 6544959 h 6553841"/>
              <a:gd name="connsiteX2" fmla="*/ 117280 w 7082552"/>
              <a:gd name="connsiteY2" fmla="*/ 2442148 h 6553841"/>
              <a:gd name="connsiteX3" fmla="*/ 26246 w 7082552"/>
              <a:gd name="connsiteY3" fmla="*/ 2193494 h 6553841"/>
              <a:gd name="connsiteX4" fmla="*/ 7082552 w 7082552"/>
              <a:gd name="connsiteY4" fmla="*/ 0 h 6553841"/>
              <a:gd name="connsiteX5" fmla="*/ 7053687 w 7082552"/>
              <a:gd name="connsiteY5" fmla="*/ 3419009 h 6553841"/>
              <a:gd name="connsiteX6" fmla="*/ 4922142 w 7082552"/>
              <a:gd name="connsiteY6" fmla="*/ 6553841 h 6553841"/>
              <a:gd name="connsiteX0" fmla="*/ 4950971 w 7111381"/>
              <a:gd name="connsiteY0" fmla="*/ 6553841 h 6553841"/>
              <a:gd name="connsiteX1" fmla="*/ 4178284 w 7111381"/>
              <a:gd name="connsiteY1" fmla="*/ 6544959 h 6553841"/>
              <a:gd name="connsiteX2" fmla="*/ 146109 w 7111381"/>
              <a:gd name="connsiteY2" fmla="*/ 2442148 h 6553841"/>
              <a:gd name="connsiteX3" fmla="*/ 55075 w 7111381"/>
              <a:gd name="connsiteY3" fmla="*/ 2193494 h 6553841"/>
              <a:gd name="connsiteX4" fmla="*/ 7111381 w 7111381"/>
              <a:gd name="connsiteY4" fmla="*/ 0 h 6553841"/>
              <a:gd name="connsiteX5" fmla="*/ 7082516 w 7111381"/>
              <a:gd name="connsiteY5" fmla="*/ 3419009 h 6553841"/>
              <a:gd name="connsiteX6" fmla="*/ 4950971 w 7111381"/>
              <a:gd name="connsiteY6" fmla="*/ 6553841 h 6553841"/>
              <a:gd name="connsiteX0" fmla="*/ 4963653 w 7124063"/>
              <a:gd name="connsiteY0" fmla="*/ 6553841 h 6553841"/>
              <a:gd name="connsiteX1" fmla="*/ 4190966 w 7124063"/>
              <a:gd name="connsiteY1" fmla="*/ 6544959 h 6553841"/>
              <a:gd name="connsiteX2" fmla="*/ 158791 w 7124063"/>
              <a:gd name="connsiteY2" fmla="*/ 2442148 h 6553841"/>
              <a:gd name="connsiteX3" fmla="*/ 67757 w 7124063"/>
              <a:gd name="connsiteY3" fmla="*/ 2193494 h 6553841"/>
              <a:gd name="connsiteX4" fmla="*/ 7124063 w 7124063"/>
              <a:gd name="connsiteY4" fmla="*/ 0 h 6553841"/>
              <a:gd name="connsiteX5" fmla="*/ 7095198 w 7124063"/>
              <a:gd name="connsiteY5" fmla="*/ 3419009 h 6553841"/>
              <a:gd name="connsiteX6" fmla="*/ 4963653 w 7124063"/>
              <a:gd name="connsiteY6" fmla="*/ 6553841 h 6553841"/>
              <a:gd name="connsiteX0" fmla="*/ 4951680 w 7112090"/>
              <a:gd name="connsiteY0" fmla="*/ 6553841 h 6553841"/>
              <a:gd name="connsiteX1" fmla="*/ 4178993 w 7112090"/>
              <a:gd name="connsiteY1" fmla="*/ 6544959 h 6553841"/>
              <a:gd name="connsiteX2" fmla="*/ 146818 w 7112090"/>
              <a:gd name="connsiteY2" fmla="*/ 2442148 h 6553841"/>
              <a:gd name="connsiteX3" fmla="*/ 78234 w 7112090"/>
              <a:gd name="connsiteY3" fmla="*/ 2187080 h 6553841"/>
              <a:gd name="connsiteX4" fmla="*/ 7112090 w 7112090"/>
              <a:gd name="connsiteY4" fmla="*/ 0 h 6553841"/>
              <a:gd name="connsiteX5" fmla="*/ 7083225 w 7112090"/>
              <a:gd name="connsiteY5" fmla="*/ 3419009 h 6553841"/>
              <a:gd name="connsiteX6" fmla="*/ 4951680 w 7112090"/>
              <a:gd name="connsiteY6" fmla="*/ 6553841 h 6553841"/>
              <a:gd name="connsiteX0" fmla="*/ 4951680 w 7083225"/>
              <a:gd name="connsiteY0" fmla="*/ 6527921 h 6527921"/>
              <a:gd name="connsiteX1" fmla="*/ 4178993 w 7083225"/>
              <a:gd name="connsiteY1" fmla="*/ 6519039 h 6527921"/>
              <a:gd name="connsiteX2" fmla="*/ 146818 w 7083225"/>
              <a:gd name="connsiteY2" fmla="*/ 2416228 h 6527921"/>
              <a:gd name="connsiteX3" fmla="*/ 78234 w 7083225"/>
              <a:gd name="connsiteY3" fmla="*/ 2161160 h 6527921"/>
              <a:gd name="connsiteX4" fmla="*/ 7077534 w 7083225"/>
              <a:gd name="connsiteY4" fmla="*/ 0 h 6527921"/>
              <a:gd name="connsiteX5" fmla="*/ 7083225 w 7083225"/>
              <a:gd name="connsiteY5" fmla="*/ 3393089 h 6527921"/>
              <a:gd name="connsiteX6" fmla="*/ 4951680 w 7083225"/>
              <a:gd name="connsiteY6" fmla="*/ 6527921 h 6527921"/>
              <a:gd name="connsiteX0" fmla="*/ 4996130 w 7083225"/>
              <a:gd name="connsiteY0" fmla="*/ 6521571 h 6521571"/>
              <a:gd name="connsiteX1" fmla="*/ 4178993 w 7083225"/>
              <a:gd name="connsiteY1" fmla="*/ 6519039 h 6521571"/>
              <a:gd name="connsiteX2" fmla="*/ 146818 w 7083225"/>
              <a:gd name="connsiteY2" fmla="*/ 2416228 h 6521571"/>
              <a:gd name="connsiteX3" fmla="*/ 78234 w 7083225"/>
              <a:gd name="connsiteY3" fmla="*/ 2161160 h 6521571"/>
              <a:gd name="connsiteX4" fmla="*/ 7077534 w 7083225"/>
              <a:gd name="connsiteY4" fmla="*/ 0 h 6521571"/>
              <a:gd name="connsiteX5" fmla="*/ 7083225 w 7083225"/>
              <a:gd name="connsiteY5" fmla="*/ 3393089 h 6521571"/>
              <a:gd name="connsiteX6" fmla="*/ 4996130 w 7083225"/>
              <a:gd name="connsiteY6" fmla="*/ 6521571 h 6521571"/>
              <a:gd name="connsiteX0" fmla="*/ 4996130 w 7083225"/>
              <a:gd name="connsiteY0" fmla="*/ 6521571 h 6525389"/>
              <a:gd name="connsiteX1" fmla="*/ 4182168 w 7083225"/>
              <a:gd name="connsiteY1" fmla="*/ 6525389 h 6525389"/>
              <a:gd name="connsiteX2" fmla="*/ 146818 w 7083225"/>
              <a:gd name="connsiteY2" fmla="*/ 2416228 h 6525389"/>
              <a:gd name="connsiteX3" fmla="*/ 78234 w 7083225"/>
              <a:gd name="connsiteY3" fmla="*/ 2161160 h 6525389"/>
              <a:gd name="connsiteX4" fmla="*/ 7077534 w 7083225"/>
              <a:gd name="connsiteY4" fmla="*/ 0 h 6525389"/>
              <a:gd name="connsiteX5" fmla="*/ 7083225 w 7083225"/>
              <a:gd name="connsiteY5" fmla="*/ 3393089 h 6525389"/>
              <a:gd name="connsiteX6" fmla="*/ 4996130 w 7083225"/>
              <a:gd name="connsiteY6" fmla="*/ 6521571 h 6525389"/>
              <a:gd name="connsiteX0" fmla="*/ 4996130 w 7084961"/>
              <a:gd name="connsiteY0" fmla="*/ 653271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4996130 w 7084961"/>
              <a:gd name="connsiteY6" fmla="*/ 6532712 h 6536530"/>
              <a:gd name="connsiteX0" fmla="*/ 5013784 w 7084961"/>
              <a:gd name="connsiteY0" fmla="*/ 653624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5013784 w 7084961"/>
              <a:gd name="connsiteY6" fmla="*/ 6536242 h 6536530"/>
              <a:gd name="connsiteX0" fmla="*/ 5013784 w 7084961"/>
              <a:gd name="connsiteY0" fmla="*/ 6536242 h 6547121"/>
              <a:gd name="connsiteX1" fmla="*/ 4185699 w 7084961"/>
              <a:gd name="connsiteY1" fmla="*/ 6547121 h 6547121"/>
              <a:gd name="connsiteX2" fmla="*/ 146818 w 7084961"/>
              <a:gd name="connsiteY2" fmla="*/ 2427369 h 6547121"/>
              <a:gd name="connsiteX3" fmla="*/ 78234 w 7084961"/>
              <a:gd name="connsiteY3" fmla="*/ 2172301 h 6547121"/>
              <a:gd name="connsiteX4" fmla="*/ 7084961 w 7084961"/>
              <a:gd name="connsiteY4" fmla="*/ 0 h 6547121"/>
              <a:gd name="connsiteX5" fmla="*/ 7083225 w 7084961"/>
              <a:gd name="connsiteY5" fmla="*/ 3404230 h 6547121"/>
              <a:gd name="connsiteX6" fmla="*/ 5013784 w 7084961"/>
              <a:gd name="connsiteY6" fmla="*/ 6536242 h 6547121"/>
              <a:gd name="connsiteX0" fmla="*/ 5013784 w 7086830"/>
              <a:gd name="connsiteY0" fmla="*/ 6536242 h 6547121"/>
              <a:gd name="connsiteX1" fmla="*/ 4185699 w 7086830"/>
              <a:gd name="connsiteY1" fmla="*/ 6547121 h 6547121"/>
              <a:gd name="connsiteX2" fmla="*/ 146818 w 7086830"/>
              <a:gd name="connsiteY2" fmla="*/ 2427369 h 6547121"/>
              <a:gd name="connsiteX3" fmla="*/ 78234 w 7086830"/>
              <a:gd name="connsiteY3" fmla="*/ 2172301 h 6547121"/>
              <a:gd name="connsiteX4" fmla="*/ 7084961 w 7086830"/>
              <a:gd name="connsiteY4" fmla="*/ 0 h 6547121"/>
              <a:gd name="connsiteX5" fmla="*/ 7086755 w 7086830"/>
              <a:gd name="connsiteY5" fmla="*/ 3425413 h 6547121"/>
              <a:gd name="connsiteX6" fmla="*/ 5013784 w 7086830"/>
              <a:gd name="connsiteY6" fmla="*/ 6536242 h 6547121"/>
              <a:gd name="connsiteX0" fmla="*/ 5013784 w 7099083"/>
              <a:gd name="connsiteY0" fmla="*/ 6543303 h 6554182"/>
              <a:gd name="connsiteX1" fmla="*/ 4185699 w 7099083"/>
              <a:gd name="connsiteY1" fmla="*/ 6554182 h 6554182"/>
              <a:gd name="connsiteX2" fmla="*/ 146818 w 7099083"/>
              <a:gd name="connsiteY2" fmla="*/ 2434430 h 6554182"/>
              <a:gd name="connsiteX3" fmla="*/ 78234 w 7099083"/>
              <a:gd name="connsiteY3" fmla="*/ 2179362 h 6554182"/>
              <a:gd name="connsiteX4" fmla="*/ 7099083 w 7099083"/>
              <a:gd name="connsiteY4" fmla="*/ 0 h 6554182"/>
              <a:gd name="connsiteX5" fmla="*/ 7086755 w 7099083"/>
              <a:gd name="connsiteY5" fmla="*/ 3432474 h 6554182"/>
              <a:gd name="connsiteX6" fmla="*/ 5013784 w 7099083"/>
              <a:gd name="connsiteY6" fmla="*/ 6543303 h 6554182"/>
              <a:gd name="connsiteX0" fmla="*/ 4996305 w 7081604"/>
              <a:gd name="connsiteY0" fmla="*/ 6543303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96305 w 7081604"/>
              <a:gd name="connsiteY6" fmla="*/ 6543303 h 6554182"/>
              <a:gd name="connsiteX0" fmla="*/ 4989581 w 7081604"/>
              <a:gd name="connsiteY0" fmla="*/ 6553388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89581 w 7081604"/>
              <a:gd name="connsiteY6" fmla="*/ 6553388 h 6554182"/>
              <a:gd name="connsiteX0" fmla="*/ 5006391 w 7081604"/>
              <a:gd name="connsiteY0" fmla="*/ 6556750 h 6556750"/>
              <a:gd name="connsiteX1" fmla="*/ 4168220 w 7081604"/>
              <a:gd name="connsiteY1" fmla="*/ 6554182 h 6556750"/>
              <a:gd name="connsiteX2" fmla="*/ 129339 w 7081604"/>
              <a:gd name="connsiteY2" fmla="*/ 2434430 h 6556750"/>
              <a:gd name="connsiteX3" fmla="*/ 98856 w 7081604"/>
              <a:gd name="connsiteY3" fmla="*/ 2169837 h 6556750"/>
              <a:gd name="connsiteX4" fmla="*/ 7081604 w 7081604"/>
              <a:gd name="connsiteY4" fmla="*/ 0 h 6556750"/>
              <a:gd name="connsiteX5" fmla="*/ 7069276 w 7081604"/>
              <a:gd name="connsiteY5" fmla="*/ 3432474 h 6556750"/>
              <a:gd name="connsiteX6" fmla="*/ 5006391 w 7081604"/>
              <a:gd name="connsiteY6" fmla="*/ 6556750 h 6556750"/>
              <a:gd name="connsiteX0" fmla="*/ 5006391 w 7092829"/>
              <a:gd name="connsiteY0" fmla="*/ 6556750 h 6556750"/>
              <a:gd name="connsiteX1" fmla="*/ 4168220 w 7092829"/>
              <a:gd name="connsiteY1" fmla="*/ 6554182 h 6556750"/>
              <a:gd name="connsiteX2" fmla="*/ 129339 w 7092829"/>
              <a:gd name="connsiteY2" fmla="*/ 2434430 h 6556750"/>
              <a:gd name="connsiteX3" fmla="*/ 98856 w 7092829"/>
              <a:gd name="connsiteY3" fmla="*/ 2169837 h 6556750"/>
              <a:gd name="connsiteX4" fmla="*/ 7081604 w 7092829"/>
              <a:gd name="connsiteY4" fmla="*/ 0 h 6556750"/>
              <a:gd name="connsiteX5" fmla="*/ 7092810 w 7092829"/>
              <a:gd name="connsiteY5" fmla="*/ 3405580 h 6556750"/>
              <a:gd name="connsiteX6" fmla="*/ 5006391 w 7092829"/>
              <a:gd name="connsiteY6" fmla="*/ 6556750 h 6556750"/>
              <a:gd name="connsiteX0" fmla="*/ 5006391 w 7095052"/>
              <a:gd name="connsiteY0" fmla="*/ 6560112 h 6560112"/>
              <a:gd name="connsiteX1" fmla="*/ 4168220 w 7095052"/>
              <a:gd name="connsiteY1" fmla="*/ 655754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5006391 w 7095052"/>
              <a:gd name="connsiteY0" fmla="*/ 6560112 h 6560112"/>
              <a:gd name="connsiteX1" fmla="*/ 3149235 w 7095052"/>
              <a:gd name="connsiteY1" fmla="*/ 569382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3384712 w 7095052"/>
              <a:gd name="connsiteY0" fmla="*/ 5702607 h 5702607"/>
              <a:gd name="connsiteX1" fmla="*/ 3149235 w 7095052"/>
              <a:gd name="connsiteY1" fmla="*/ 5693824 h 5702607"/>
              <a:gd name="connsiteX2" fmla="*/ 129339 w 7095052"/>
              <a:gd name="connsiteY2" fmla="*/ 2437792 h 5702607"/>
              <a:gd name="connsiteX3" fmla="*/ 98856 w 7095052"/>
              <a:gd name="connsiteY3" fmla="*/ 2173199 h 5702607"/>
              <a:gd name="connsiteX4" fmla="*/ 7095052 w 7095052"/>
              <a:gd name="connsiteY4" fmla="*/ 0 h 5702607"/>
              <a:gd name="connsiteX5" fmla="*/ 7092810 w 7095052"/>
              <a:gd name="connsiteY5" fmla="*/ 3408942 h 5702607"/>
              <a:gd name="connsiteX6" fmla="*/ 3384712 w 7095052"/>
              <a:gd name="connsiteY6" fmla="*/ 5702607 h 5702607"/>
              <a:gd name="connsiteX0" fmla="*/ 3384712 w 7092810"/>
              <a:gd name="connsiteY0" fmla="*/ 5652896 h 5652896"/>
              <a:gd name="connsiteX1" fmla="*/ 3149235 w 7092810"/>
              <a:gd name="connsiteY1" fmla="*/ 5644113 h 5652896"/>
              <a:gd name="connsiteX2" fmla="*/ 129339 w 7092810"/>
              <a:gd name="connsiteY2" fmla="*/ 2388081 h 5652896"/>
              <a:gd name="connsiteX3" fmla="*/ 98856 w 7092810"/>
              <a:gd name="connsiteY3" fmla="*/ 2123488 h 5652896"/>
              <a:gd name="connsiteX4" fmla="*/ 6629053 w 7092810"/>
              <a:gd name="connsiteY4" fmla="*/ 0 h 5652896"/>
              <a:gd name="connsiteX5" fmla="*/ 7092810 w 7092810"/>
              <a:gd name="connsiteY5" fmla="*/ 3359231 h 5652896"/>
              <a:gd name="connsiteX6" fmla="*/ 3384712 w 7092810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34785 w 6629053"/>
              <a:gd name="connsiteY5" fmla="*/ 3458652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160811 w 6629053"/>
              <a:gd name="connsiteY5" fmla="*/ 3123106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78278 w 6629053"/>
              <a:gd name="connsiteY5" fmla="*/ 2060544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508758 w 6629053"/>
              <a:gd name="connsiteY5" fmla="*/ 1898985 h 5652896"/>
              <a:gd name="connsiteX6" fmla="*/ 3384712 w 6629053"/>
              <a:gd name="connsiteY6" fmla="*/ 5652896 h 5652896"/>
              <a:gd name="connsiteX0" fmla="*/ 3384712 w 6523426"/>
              <a:gd name="connsiteY0" fmla="*/ 5609400 h 5609400"/>
              <a:gd name="connsiteX1" fmla="*/ 3149235 w 6523426"/>
              <a:gd name="connsiteY1" fmla="*/ 5600617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5931176 w 6523426"/>
              <a:gd name="connsiteY5" fmla="*/ 2555863 h 5609400"/>
              <a:gd name="connsiteX6" fmla="*/ 3384712 w 6523426"/>
              <a:gd name="connsiteY6" fmla="*/ 5609400 h 5609400"/>
              <a:gd name="connsiteX0" fmla="*/ 3384712 w 5931191"/>
              <a:gd name="connsiteY0" fmla="*/ 5421672 h 5421672"/>
              <a:gd name="connsiteX1" fmla="*/ 3118168 w 5931191"/>
              <a:gd name="connsiteY1" fmla="*/ 5406676 h 5421672"/>
              <a:gd name="connsiteX2" fmla="*/ 129339 w 5931191"/>
              <a:gd name="connsiteY2" fmla="*/ 2156857 h 5421672"/>
              <a:gd name="connsiteX3" fmla="*/ 98856 w 5931191"/>
              <a:gd name="connsiteY3" fmla="*/ 1892264 h 5421672"/>
              <a:gd name="connsiteX4" fmla="*/ 5916965 w 5931191"/>
              <a:gd name="connsiteY4" fmla="*/ 0 h 5421672"/>
              <a:gd name="connsiteX5" fmla="*/ 5931176 w 5931191"/>
              <a:gd name="connsiteY5" fmla="*/ 2368135 h 5421672"/>
              <a:gd name="connsiteX6" fmla="*/ 3384712 w 5931191"/>
              <a:gd name="connsiteY6" fmla="*/ 5421672 h 5421672"/>
              <a:gd name="connsiteX0" fmla="*/ 3384712 w 5931205"/>
              <a:gd name="connsiteY0" fmla="*/ 5421672 h 5421672"/>
              <a:gd name="connsiteX1" fmla="*/ 3118168 w 5931205"/>
              <a:gd name="connsiteY1" fmla="*/ 5406676 h 5421672"/>
              <a:gd name="connsiteX2" fmla="*/ 129339 w 5931205"/>
              <a:gd name="connsiteY2" fmla="*/ 2156857 h 5421672"/>
              <a:gd name="connsiteX3" fmla="*/ 98856 w 5931205"/>
              <a:gd name="connsiteY3" fmla="*/ 1892264 h 5421672"/>
              <a:gd name="connsiteX4" fmla="*/ 5916965 w 5931205"/>
              <a:gd name="connsiteY4" fmla="*/ 0 h 5421672"/>
              <a:gd name="connsiteX5" fmla="*/ 5931176 w 5931205"/>
              <a:gd name="connsiteY5" fmla="*/ 2368135 h 5421672"/>
              <a:gd name="connsiteX6" fmla="*/ 3384712 w 5931205"/>
              <a:gd name="connsiteY6" fmla="*/ 5421672 h 5421672"/>
              <a:gd name="connsiteX0" fmla="*/ 3384712 w 5931205"/>
              <a:gd name="connsiteY0" fmla="*/ 5421672 h 5427214"/>
              <a:gd name="connsiteX1" fmla="*/ 3130492 w 5931205"/>
              <a:gd name="connsiteY1" fmla="*/ 5427214 h 5427214"/>
              <a:gd name="connsiteX2" fmla="*/ 129339 w 5931205"/>
              <a:gd name="connsiteY2" fmla="*/ 2156857 h 5427214"/>
              <a:gd name="connsiteX3" fmla="*/ 98856 w 5931205"/>
              <a:gd name="connsiteY3" fmla="*/ 1892264 h 5427214"/>
              <a:gd name="connsiteX4" fmla="*/ 5916965 w 5931205"/>
              <a:gd name="connsiteY4" fmla="*/ 0 h 5427214"/>
              <a:gd name="connsiteX5" fmla="*/ 5931176 w 5931205"/>
              <a:gd name="connsiteY5" fmla="*/ 2368135 h 5427214"/>
              <a:gd name="connsiteX6" fmla="*/ 3384712 w 5931205"/>
              <a:gd name="connsiteY6" fmla="*/ 5421672 h 5427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205" h="5427214">
                <a:moveTo>
                  <a:pt x="3384712" y="5421672"/>
                </a:moveTo>
                <a:lnTo>
                  <a:pt x="3130492" y="5427214"/>
                </a:lnTo>
                <a:cubicBezTo>
                  <a:pt x="1809052" y="4010467"/>
                  <a:pt x="1475633" y="3530108"/>
                  <a:pt x="129339" y="2156857"/>
                </a:cubicBezTo>
                <a:cubicBezTo>
                  <a:pt x="-87432" y="1945812"/>
                  <a:pt x="15569" y="1932016"/>
                  <a:pt x="98856" y="1892264"/>
                </a:cubicBezTo>
                <a:lnTo>
                  <a:pt x="5916965" y="0"/>
                </a:lnTo>
                <a:cubicBezTo>
                  <a:pt x="5923606" y="1091421"/>
                  <a:pt x="5931755" y="1233392"/>
                  <a:pt x="5931176" y="2368135"/>
                </a:cubicBezTo>
                <a:lnTo>
                  <a:pt x="3384712" y="5421672"/>
                </a:lnTo>
                <a:close/>
              </a:path>
            </a:pathLst>
          </a:custGeom>
          <a:blipFill dpi="0"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4720876-3CA7-744D-A10D-DA2A0D62BA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93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ection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F6B96-A12F-1945-8D91-2097D3B33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CDD162A-821F-1945-842E-1D5AE800FF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5181"/>
          <a:stretch/>
        </p:blipFill>
        <p:spPr>
          <a:xfrm>
            <a:off x="0" y="2176042"/>
            <a:ext cx="12192000" cy="469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298D650-E8F3-4545-ABF5-903E2FF5D0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999" y="1980000"/>
            <a:ext cx="5040000" cy="1800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Section </a:t>
            </a:r>
            <a:br>
              <a:rPr lang="en-US" dirty="0"/>
            </a:br>
            <a:r>
              <a:rPr lang="en-US" dirty="0"/>
              <a:t>header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E0E0F3-5DCB-3A49-8070-D9496897D8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60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909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theme" Target="../theme/theme1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 userDrawn="1"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 userDrawn="1"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 userDrawn="1"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 userDrawn="1"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 userDrawn="1"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 userDrawn="1"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 userDrawn="1"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 userDrawn="1"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 userDrawn="1"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 userDrawn="1"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 userDrawn="1"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 userDrawn="1"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 userDrawn="1"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201419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88" r:id="rId2"/>
    <p:sldLayoutId id="2147483713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08FE5F2-396F-675C-DD20-4EAE6D0F48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561" y="4611040"/>
            <a:ext cx="5080000" cy="3587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5E02C-68B6-3910-DC92-06CE0674F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2160000"/>
            <a:ext cx="5609286" cy="2252974"/>
          </a:xfrm>
        </p:spPr>
        <p:txBody>
          <a:bodyPr/>
          <a:lstStyle/>
          <a:p>
            <a:r>
              <a:rPr lang="en-GB" dirty="0"/>
              <a:t>Automating Doctor Verification for Minor Claims</a:t>
            </a:r>
          </a:p>
        </p:txBody>
      </p:sp>
    </p:spTree>
    <p:extLst>
      <p:ext uri="{BB962C8B-B14F-4D97-AF65-F5344CB8AC3E}">
        <p14:creationId xmlns:p14="http://schemas.microsoft.com/office/powerpoint/2010/main" val="537563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9A7FE5-7813-0FDB-80E1-3D7A11161F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320960" cy="1563357"/>
          </a:xfrm>
        </p:spPr>
        <p:txBody>
          <a:bodyPr/>
          <a:lstStyle/>
          <a:p>
            <a:r>
              <a:rPr lang="en-CA" dirty="0"/>
              <a:t>Auditors do not currently verify doctors’ legitimacy on scanned documents</a:t>
            </a:r>
          </a:p>
          <a:p>
            <a:r>
              <a:rPr lang="en-CA" dirty="0"/>
              <a:t>Manual checks via HKMC are slow and inconsistent</a:t>
            </a:r>
          </a:p>
          <a:p>
            <a:r>
              <a:rPr lang="en-CA" dirty="0"/>
              <a:t>Need for an automated and scalable verification process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557830-A24E-1572-102A-81433071CD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306517-AA32-FAB4-424A-7044CAC3D2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Problem Statement &amp; Objective</a:t>
            </a:r>
            <a:endParaRPr lang="en-GB" dirty="0"/>
          </a:p>
        </p:txBody>
      </p:sp>
      <p:pic>
        <p:nvPicPr>
          <p:cNvPr id="9" name="Picture 8" descr="A screenshot of a medical practitioner&#10;&#10;AI-generated content may be incorrect.">
            <a:extLst>
              <a:ext uri="{FF2B5EF4-FFF2-40B4-BE49-F238E27FC236}">
                <a16:creationId xmlns:a16="http://schemas.microsoft.com/office/drawing/2014/main" id="{1B02A70A-B0C7-FCEC-8082-6CE0DEFE4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605" y="3823184"/>
            <a:ext cx="4136771" cy="1338676"/>
          </a:xfrm>
          <a:prstGeom prst="rect">
            <a:avLst/>
          </a:prstGeom>
        </p:spPr>
      </p:pic>
      <p:pic>
        <p:nvPicPr>
          <p:cNvPr id="11" name="Picture 10" descr="A black clock with a red exclamation mark&#10;&#10;AI-generated content may be incorrect.">
            <a:extLst>
              <a:ext uri="{FF2B5EF4-FFF2-40B4-BE49-F238E27FC236}">
                <a16:creationId xmlns:a16="http://schemas.microsoft.com/office/drawing/2014/main" id="{826E2BC1-AAD1-4C42-EF78-DF078288E6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6501" y="3494644"/>
            <a:ext cx="2203646" cy="1995755"/>
          </a:xfrm>
          <a:prstGeom prst="rect">
            <a:avLst/>
          </a:prstGeom>
        </p:spPr>
      </p:pic>
      <p:sp>
        <p:nvSpPr>
          <p:cNvPr id="12" name="Right Arrow 11">
            <a:extLst>
              <a:ext uri="{FF2B5EF4-FFF2-40B4-BE49-F238E27FC236}">
                <a16:creationId xmlns:a16="http://schemas.microsoft.com/office/drawing/2014/main" id="{186DC1AC-BADC-51D0-44E1-A49DD05E0EB4}"/>
              </a:ext>
            </a:extLst>
          </p:cNvPr>
          <p:cNvSpPr/>
          <p:nvPr/>
        </p:nvSpPr>
        <p:spPr>
          <a:xfrm>
            <a:off x="2208435" y="4326766"/>
            <a:ext cx="691849" cy="3315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74A58A27-7CA7-94C9-745F-EA919574C2EC}"/>
              </a:ext>
            </a:extLst>
          </p:cNvPr>
          <p:cNvSpPr/>
          <p:nvPr/>
        </p:nvSpPr>
        <p:spPr>
          <a:xfrm>
            <a:off x="7333632" y="4326766"/>
            <a:ext cx="691849" cy="3315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stack of files and folders&#10;&#10;AI-generated content may be incorrect.">
            <a:extLst>
              <a:ext uri="{FF2B5EF4-FFF2-40B4-BE49-F238E27FC236}">
                <a16:creationId xmlns:a16="http://schemas.microsoft.com/office/drawing/2014/main" id="{22A82D80-E3C8-7EF6-F542-10680C85B0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3838864"/>
            <a:ext cx="1807416" cy="1320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856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283273-C894-1CEB-2049-8DC20EC1BD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800000"/>
            <a:ext cx="6621245" cy="2916793"/>
          </a:xfrm>
        </p:spPr>
        <p:txBody>
          <a:bodyPr/>
          <a:lstStyle/>
          <a:p>
            <a:r>
              <a:rPr lang="en-CA" dirty="0"/>
              <a:t>OCR extracts doctor names from scanned documents</a:t>
            </a:r>
          </a:p>
          <a:p>
            <a:r>
              <a:rPr lang="en-CA" dirty="0"/>
              <a:t>Names are matched against HKMC registered doctor list</a:t>
            </a:r>
          </a:p>
          <a:p>
            <a:r>
              <a:rPr lang="en-CA" dirty="0"/>
              <a:t>Results exported for audit and analytics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BCE9F6-43BD-B576-7F16-07C664C468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B2E2EB-A54E-EE31-96AF-26C29F3B9A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Proposed Automated Solution</a:t>
            </a:r>
            <a:endParaRPr lang="en-GB" dirty="0"/>
          </a:p>
        </p:txBody>
      </p:sp>
      <p:pic>
        <p:nvPicPr>
          <p:cNvPr id="8" name="Picture 7" descr="A magnifying glass and a magnifying glass&#10;&#10;AI-generated content may be incorrect.">
            <a:extLst>
              <a:ext uri="{FF2B5EF4-FFF2-40B4-BE49-F238E27FC236}">
                <a16:creationId xmlns:a16="http://schemas.microsoft.com/office/drawing/2014/main" id="{78D689E9-9D72-F0B7-9EB9-D97178A09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85" y="3762146"/>
            <a:ext cx="5233921" cy="1909289"/>
          </a:xfrm>
          <a:prstGeom prst="rect">
            <a:avLst/>
          </a:prstGeom>
        </p:spPr>
      </p:pic>
      <p:pic>
        <p:nvPicPr>
          <p:cNvPr id="2052" name="Picture 4" descr="Database - Free seo and web icons">
            <a:extLst>
              <a:ext uri="{FF2B5EF4-FFF2-40B4-BE49-F238E27FC236}">
                <a16:creationId xmlns:a16="http://schemas.microsoft.com/office/drawing/2014/main" id="{C4027D2D-EBFD-B3CE-E166-55976ADB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766" y="3889148"/>
            <a:ext cx="1655281" cy="1655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Left-Right Arrow 10">
            <a:extLst>
              <a:ext uri="{FF2B5EF4-FFF2-40B4-BE49-F238E27FC236}">
                <a16:creationId xmlns:a16="http://schemas.microsoft.com/office/drawing/2014/main" id="{18D14555-2ADB-647A-9B3D-60B80376EB3D}"/>
              </a:ext>
            </a:extLst>
          </p:cNvPr>
          <p:cNvSpPr/>
          <p:nvPr/>
        </p:nvSpPr>
        <p:spPr>
          <a:xfrm>
            <a:off x="6452126" y="4633645"/>
            <a:ext cx="976090" cy="174202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328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AE3861-09BA-2062-884B-AC0E0714364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6835930" cy="2916793"/>
          </a:xfrm>
        </p:spPr>
        <p:txBody>
          <a:bodyPr/>
          <a:lstStyle/>
          <a:p>
            <a:r>
              <a:rPr lang="en-CA" dirty="0"/>
              <a:t>Eliminates manual checking</a:t>
            </a:r>
          </a:p>
          <a:p>
            <a:r>
              <a:rPr lang="en-CA" dirty="0"/>
              <a:t>Ensures consistent verification</a:t>
            </a:r>
          </a:p>
          <a:p>
            <a:r>
              <a:rPr lang="en-CA" dirty="0"/>
              <a:t>Scales to high claim volumes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679985-AC6F-B640-9349-80B71CB4A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F0C56-54E8-ECDB-A3B9-595FFBC7A4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Business Value</a:t>
            </a:r>
            <a:endParaRPr lang="en-GB" dirty="0"/>
          </a:p>
        </p:txBody>
      </p:sp>
      <p:pic>
        <p:nvPicPr>
          <p:cNvPr id="3074" name="Picture 2" descr="Save Time Icon Vector Art, Icons, and Graphics for Free Download">
            <a:extLst>
              <a:ext uri="{FF2B5EF4-FFF2-40B4-BE49-F238E27FC236}">
                <a16:creationId xmlns:a16="http://schemas.microsoft.com/office/drawing/2014/main" id="{BA5B2024-8054-747D-91D1-97561EB51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000" y="936657"/>
            <a:ext cx="1899182" cy="1899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speedometer with different colored faces&#10;&#10;AI-generated content may be incorrect.">
            <a:extLst>
              <a:ext uri="{FF2B5EF4-FFF2-40B4-BE49-F238E27FC236}">
                <a16:creationId xmlns:a16="http://schemas.microsoft.com/office/drawing/2014/main" id="{60BCD5A8-7E0D-B1A4-819A-D464EC508E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7506" y="4065390"/>
            <a:ext cx="2362244" cy="1878744"/>
          </a:xfrm>
          <a:prstGeom prst="rect">
            <a:avLst/>
          </a:prstGeom>
        </p:spPr>
      </p:pic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9636CC3-0C36-6198-7B79-BBB7EAAED29F}"/>
              </a:ext>
            </a:extLst>
          </p:cNvPr>
          <p:cNvSpPr/>
          <p:nvPr/>
        </p:nvSpPr>
        <p:spPr>
          <a:xfrm>
            <a:off x="6351389" y="4701858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-Right Arrow 12">
            <a:extLst>
              <a:ext uri="{FF2B5EF4-FFF2-40B4-BE49-F238E27FC236}">
                <a16:creationId xmlns:a16="http://schemas.microsoft.com/office/drawing/2014/main" id="{812B8F7A-36D1-6109-B781-841271EBF7E5}"/>
              </a:ext>
            </a:extLst>
          </p:cNvPr>
          <p:cNvSpPr/>
          <p:nvPr/>
        </p:nvSpPr>
        <p:spPr>
          <a:xfrm rot="2935885">
            <a:off x="7335748" y="3236280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AD3DBA80-C792-6531-23F4-8CA439F1AC48}"/>
              </a:ext>
            </a:extLst>
          </p:cNvPr>
          <p:cNvSpPr/>
          <p:nvPr/>
        </p:nvSpPr>
        <p:spPr>
          <a:xfrm rot="18477443">
            <a:off x="5364648" y="3236281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Scalable system vector icon can be used for data analytics iconset |  Premium Vector">
            <a:extLst>
              <a:ext uri="{FF2B5EF4-FFF2-40B4-BE49-F238E27FC236}">
                <a16:creationId xmlns:a16="http://schemas.microsoft.com/office/drawing/2014/main" id="{5A37CDE2-73B4-DBBB-A117-110AD59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490" y="3913170"/>
            <a:ext cx="1998323" cy="199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4949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94008-936A-B408-478F-05E2F5D553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1"/>
            <a:ext cx="6184638" cy="1251424"/>
          </a:xfrm>
        </p:spPr>
        <p:txBody>
          <a:bodyPr/>
          <a:lstStyle/>
          <a:p>
            <a:r>
              <a:rPr lang="en-CA" b="1" dirty="0"/>
              <a:t>Accuracy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A" dirty="0"/>
              <a:t>OCR errors may cause missed matches (false negatives)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78A3B-767E-76C8-50F5-6F3C43926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2D8B8-168F-713C-30B9-4FC6B899B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1160000" cy="875064"/>
          </a:xfrm>
        </p:spPr>
        <p:txBody>
          <a:bodyPr/>
          <a:lstStyle/>
          <a:p>
            <a:r>
              <a:rPr lang="en-CA" dirty="0"/>
              <a:t>Current Limitations &amp; Risks</a:t>
            </a:r>
            <a:endParaRPr lang="en-GB" dirty="0"/>
          </a:p>
        </p:txBody>
      </p:sp>
      <p:pic>
        <p:nvPicPr>
          <p:cNvPr id="5122" name="Picture 2" descr="Time PNGs for Free Download">
            <a:extLst>
              <a:ext uri="{FF2B5EF4-FFF2-40B4-BE49-F238E27FC236}">
                <a16:creationId xmlns:a16="http://schemas.microsoft.com/office/drawing/2014/main" id="{55B942C2-DDD5-F835-5175-B01E10211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9351" y="3429000"/>
            <a:ext cx="2021298" cy="2021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red and white circle with black dots&#10;&#10;AI-generated content may be incorrect.">
            <a:extLst>
              <a:ext uri="{FF2B5EF4-FFF2-40B4-BE49-F238E27FC236}">
                <a16:creationId xmlns:a16="http://schemas.microsoft.com/office/drawing/2014/main" id="{C4B47521-C506-4B63-070B-D681EF9D6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0143" y="1655112"/>
            <a:ext cx="1396313" cy="139631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58E0E0F-8AE6-F6AF-EC7F-97F5C9CAAD7C}"/>
              </a:ext>
            </a:extLst>
          </p:cNvPr>
          <p:cNvSpPr txBox="1">
            <a:spLocks/>
          </p:cNvSpPr>
          <p:nvPr/>
        </p:nvSpPr>
        <p:spPr>
          <a:xfrm>
            <a:off x="359999" y="3214256"/>
            <a:ext cx="4436377" cy="12514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b="1" dirty="0"/>
              <a:t>Performance</a:t>
            </a:r>
          </a:p>
          <a:p>
            <a:pPr lvl="1"/>
            <a:r>
              <a:rPr lang="en-CA" dirty="0"/>
              <a:t>Slow processing time per document</a:t>
            </a:r>
          </a:p>
          <a:p>
            <a:pPr lvl="1"/>
            <a:r>
              <a:rPr lang="en-CA" dirty="0"/>
              <a:t>No GPU and limited OCR options</a:t>
            </a:r>
          </a:p>
        </p:txBody>
      </p:sp>
    </p:spTree>
    <p:extLst>
      <p:ext uri="{BB962C8B-B14F-4D97-AF65-F5344CB8AC3E}">
        <p14:creationId xmlns:p14="http://schemas.microsoft.com/office/powerpoint/2010/main" val="279123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5050F5-AB8A-0B66-9245-DC1B9B4B79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1"/>
            <a:ext cx="7138080" cy="1415810"/>
          </a:xfrm>
        </p:spPr>
        <p:txBody>
          <a:bodyPr/>
          <a:lstStyle/>
          <a:p>
            <a:r>
              <a:rPr lang="en-CA" dirty="0"/>
              <a:t>Collect more scanned documents for testing</a:t>
            </a:r>
          </a:p>
          <a:p>
            <a:r>
              <a:rPr lang="en-CA" dirty="0"/>
              <a:t>Measure OCR accuracy, processing time, and match rates</a:t>
            </a:r>
          </a:p>
          <a:p>
            <a:r>
              <a:rPr lang="en-CA" dirty="0"/>
              <a:t>Evaluate faster or cloud-based OCR (if compliant)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9074ED-A77C-F40F-AA22-6CECDB0FB0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80626-8DA9-1C43-D02A-D46EDEC00C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Next Steps</a:t>
            </a:r>
            <a:endParaRPr lang="en-GB" dirty="0"/>
          </a:p>
        </p:txBody>
      </p:sp>
      <p:pic>
        <p:nvPicPr>
          <p:cNvPr id="1026" name="Picture 2" descr="Checklist - Free files and folders icons">
            <a:extLst>
              <a:ext uri="{FF2B5EF4-FFF2-40B4-BE49-F238E27FC236}">
                <a16:creationId xmlns:a16="http://schemas.microsoft.com/office/drawing/2014/main" id="{1D787853-407A-0146-965E-400A9B87A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07" y="3809758"/>
            <a:ext cx="1685158" cy="168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ject-Based Timeline Lesson - TeachHUB">
            <a:extLst>
              <a:ext uri="{FF2B5EF4-FFF2-40B4-BE49-F238E27FC236}">
                <a16:creationId xmlns:a16="http://schemas.microsoft.com/office/drawing/2014/main" id="{F6F7AFFC-B4A2-0B39-D239-C9FBB0B0F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147" y="2951691"/>
            <a:ext cx="3945780" cy="3048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Project Milestone And How To Define It?">
            <a:extLst>
              <a:ext uri="{FF2B5EF4-FFF2-40B4-BE49-F238E27FC236}">
                <a16:creationId xmlns:a16="http://schemas.microsoft.com/office/drawing/2014/main" id="{2760EC0B-31E7-793D-A696-FE24B6FF5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4386" y="3837719"/>
            <a:ext cx="4212895" cy="168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9491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F14101-9C45-B999-A22D-70E4D9203B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947515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187</TotalTime>
  <Words>135</Words>
  <Application>Microsoft Macintosh PowerPoint</Application>
  <PresentationFormat>Widescreen</PresentationFormat>
  <Paragraphs>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Helvetica Neue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Chun Cheung Wang</cp:lastModifiedBy>
  <cp:revision>7</cp:revision>
  <cp:lastPrinted>2020-05-18T12:18:52Z</cp:lastPrinted>
  <dcterms:created xsi:type="dcterms:W3CDTF">2026-01-29T03:17:14Z</dcterms:created>
  <dcterms:modified xsi:type="dcterms:W3CDTF">2026-02-02T06:47:02Z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2026-01-29T03:30:41Z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2ef523c1-df53-47b3-afb4-887a52859f1a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